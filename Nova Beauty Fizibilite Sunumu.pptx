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embeddedFontLst>
    <p:embeddedFont>
      <p:font typeface="DM Sans" pitchFamily="34" charset="0"/>
      <p:regular r:id="rId14"/>
      <p:bold r:id="rId15"/>
    </p:embeddedFont>
    <p:embeddedFont>
      <p:font typeface="Cormorant Garamond" pitchFamily="18" charset="0"/>
      <p:regular r:id="rId16"/>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sn) Merhaba, biz Grup 1. Projemiz Nova Beauty: açılış hazırlığındaki bir güzellik merkezi için tanıtım ve iletişim sitesi. Müşterimiz işletme sahibi Talha Çalışkan. Şimdi fizibilite raporumuzu ve kararımızı kısaca anlatacağız.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sn) Nova Beauty henüz açılmadı ve hiç çevrim içi varlığı yok; bilgi ve randevu talepleri telefonla yürüyor. Hedefimiz, hizmetleri, konumu ve iletişimi tek bir mobil sitede toplamak ve ziyaretçiyi en fazla iki dokunuşta Instagram ya da WhatsApp'tan randevu talebine ulaştırmak. Maliyeti sıfır. Bir talebin bugün kaç dakika sürdüğünü henüz ölçemedik; raporda bunu dürüstçe "ölçülemedi" olarak yazdık ve ikinci görüşmede ölçeceğiz.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sn) Kapsamı baştan sınırladık. Bu dönem yapacaklarımız: ana sayfa, hizmet kartları ve detayları, randevu butonu, iletişim ve yol tarifi, mobil uyum. Kapsam dışı listesi en az onun kadar önemli: SMS, takvimli randevu, ödeme, üyelik, ücretli API ve yönetim paneli yok. Bunlar 2. sürüm adayı olarak bekliyor. Kapsam dışı listesini ikinci görüşmede müşteriye madde madde onaylatacağız.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sn) Sitede sunucu tarafı işlem olmadığı için statik HTML ve CSS seçtik; GitHub Pages ücretsiz ve HTTPS veriyor. Hazır site kurucu ve açık kaynak şablonları da değerlendirdik ama elimizde prototip olduğu için sıfırdan statik site en sade yol. Randevu için Instagram ve WhatsApp bağlantıları kullanıyoruz. Süreç olarak bir haftalık sprintlerle, Kanban panosuyla ve her hafta müşteri geri bildirimiyle ilerliyoruz, çünkü içerik müşteriden parça parça geliyor.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sn) Dört kilometre taşımız var. Birinci hafta kapsamı ve belgeleri tamamladık. İkinci hafta prototip ve randevu butonu, üçüncü hafta yayın ve test, dördüncü hafta müşteri kabulü. Kritik yol randevu akışından geçiyor: Instagram hesabı açılmazsa ya da müşteri kanalı onaylamazsa bütün takvim kayar.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sn) En büyük riskimiz randevu akışı, puanı 20. Sitenin tek işlevsel akışı ve iki dış bağımlılığı var. Yedek olarak WhatsApp kısa bağlantısını hazır tutuyoruz. İkinci risk müşterinin içeriği geç vermesi; geçici görsellerle ilerleyeceğiz. Üçüncüsü düşük katılım; her kartın tek bir sahibi var ve her hafta durum kontrolü yapıyoruz.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sn) Kararımız: Devam et. Üç gerekçemiz var: maliyet neredeyse sıfır, sunucusuz bir site olduğu için teknik olarak yapılabilir ve en büyük risk için yedek planımız hazır. Ama devam etmek her şeyi yapmak demek değil; yalnızca kapsam içindeki maddeleri yapacağız. Karar koşullu: ikinci haftada mevcut durumu ölçeceğiz, randevu akışı denemesini yapacağız ve kapsamı müşteriye onaylatacağız. Deneme başarısız olursa kararı "yeniden düşün" olarak gözden geçireceğiz. Teşekkürler.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3A1E2E"/>
                </a:solidFill>
                <a:latin typeface="Cormorant Garamond" pitchFamily="34" charset="0"/>
                <a:ea typeface="Cormorant Garamond" pitchFamily="34" charset="-122"/>
                <a:cs typeface="Cormorant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3A1E2E"/>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3A1E2E"/>
                </a:solidFill>
                <a:latin typeface="Cormorant Garamond" pitchFamily="34" charset="0"/>
                <a:ea typeface="Cormorant Garamond" pitchFamily="34" charset="-122"/>
                <a:cs typeface="Cormorant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3A1E2E"/>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E2E"/>
        </a:solidFill>
      </p:bgPr>
    </p:bg>
    <p:spTree>
      <p:nvGrpSpPr>
        <p:cNvPr id="1" name=""/>
        <p:cNvGrpSpPr/>
        <p:nvPr/>
      </p:nvGrpSpPr>
      <p:grpSpPr>
        <a:xfrm>
          <a:off x="0" y="0"/>
          <a:ext cx="0" cy="0"/>
          <a:chOff x="0" y="0"/>
          <a:chExt cx="0" cy="0"/>
        </a:xfrm>
      </p:grpSpPr>
      <p:sp>
        <p:nvSpPr>
          <p:cNvPr id="2" name="Text 0"/>
          <p:cNvSpPr/>
          <p:nvPr/>
        </p:nvSpPr>
        <p:spPr>
          <a:xfrm>
            <a:off x="812800" y="224155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spc="200" kern="0" dirty="0">
                <a:solidFill>
                  <a:srgbClr val="E2B6CB"/>
                </a:solidFill>
                <a:latin typeface="DM Sans" pitchFamily="34" charset="0"/>
                <a:ea typeface="DM Sans" pitchFamily="34" charset="-122"/>
                <a:cs typeface="DM Sans" pitchFamily="34" charset="-120"/>
              </a:rPr>
              <a:t>BZ 313 · ÖDEV 1 · GRUP 1</a:t>
            </a:r>
            <a:endParaRPr lang="en-US" sz="1600" dirty="0"/>
          </a:p>
        </p:txBody>
      </p:sp>
      <p:sp>
        <p:nvSpPr>
          <p:cNvPr id="3" name="Text 1"/>
          <p:cNvSpPr/>
          <p:nvPr>
            <p:ph type="title"/>
          </p:nvPr>
        </p:nvSpPr>
        <p:spPr>
          <a:xfrm>
            <a:off x="812800" y="278003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7EEF2"/>
                </a:solidFill>
                <a:latin typeface="Cormorant Garamond" pitchFamily="18" charset="0"/>
                <a:ea typeface="Cormorant Garamond" pitchFamily="18" charset="-122"/>
                <a:cs typeface="Cormorant Garamond" pitchFamily="18" charset="-120"/>
              </a:rPr>
              <a:t>Nova Beauty</a:t>
            </a:r>
            <a:endParaRPr lang="en-US" sz="8000" dirty="0"/>
          </a:p>
        </p:txBody>
      </p:sp>
      <p:sp>
        <p:nvSpPr>
          <p:cNvPr id="4" name="Text 2"/>
          <p:cNvSpPr/>
          <p:nvPr/>
        </p:nvSpPr>
        <p:spPr>
          <a:xfrm>
            <a:off x="812800" y="4050030"/>
            <a:ext cx="8502650"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7EEF2"/>
                </a:solidFill>
                <a:latin typeface="DM Sans" pitchFamily="34" charset="0"/>
                <a:ea typeface="DM Sans" pitchFamily="34" charset="-122"/>
                <a:cs typeface="DM Sans" pitchFamily="34" charset="-120"/>
              </a:rPr>
              <a:t>Güzellik merkezi tanıtım ve iletişim sitesi için fizibilite raporu</a:t>
            </a:r>
            <a:endParaRPr lang="en-US" sz="2200" dirty="0"/>
          </a:p>
        </p:txBody>
      </p:sp>
      <p:sp>
        <p:nvSpPr>
          <p:cNvPr id="5" name="Text 3"/>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AFC0"/>
                </a:solidFill>
                <a:latin typeface="DM Sans" pitchFamily="34" charset="0"/>
                <a:ea typeface="DM Sans" pitchFamily="34" charset="-122"/>
                <a:cs typeface="DM Sans" pitchFamily="34" charset="-120"/>
              </a:rPr>
              <a:t>Ali Tayyip Orbay · Ecem Hüsrevoğlu · Elif Sinem Hameş · Emine Nur · Emre Gültekin · Mehmet Emin Gülseren · Ömer Faruk Haskul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3A1E2E"/>
                </a:solidFill>
                <a:latin typeface="Cormorant Garamond" pitchFamily="18" charset="0"/>
                <a:ea typeface="Cormorant Garamond" pitchFamily="18" charset="-122"/>
                <a:cs typeface="Cormorant Garamond" pitchFamily="18" charset="-120"/>
              </a:rPr>
              <a:t>Problem ve çözüm</a:t>
            </a:r>
            <a:endParaRPr lang="en-US" sz="3600" dirty="0"/>
          </a:p>
        </p:txBody>
      </p:sp>
      <p:sp>
        <p:nvSpPr>
          <p:cNvPr id="3" name="Shape 1"/>
          <p:cNvSpPr/>
          <p:nvPr/>
        </p:nvSpPr>
        <p:spPr>
          <a:xfrm>
            <a:off x="812800" y="1671320"/>
            <a:ext cx="5156200" cy="4170680"/>
          </a:xfrm>
          <a:prstGeom prst="roundRect">
            <a:avLst>
              <a:gd name="adj" fmla="val 3654"/>
            </a:avLst>
          </a:prstGeom>
          <a:solidFill>
            <a:srgbClr val="F3E8EE"/>
          </a:solidFill>
          <a:ln/>
        </p:spPr>
      </p:sp>
      <p:sp>
        <p:nvSpPr>
          <p:cNvPr id="4" name="Text 2"/>
          <p:cNvSpPr/>
          <p:nvPr/>
        </p:nvSpPr>
        <p:spPr>
          <a:xfrm>
            <a:off x="1168400" y="2026920"/>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2E55"/>
                </a:solidFill>
                <a:latin typeface="DM Sans" pitchFamily="34" charset="0"/>
                <a:ea typeface="DM Sans" pitchFamily="34" charset="-122"/>
                <a:cs typeface="DM Sans" pitchFamily="34" charset="-120"/>
              </a:rPr>
              <a:t>BUGÜN</a:t>
            </a:r>
            <a:endParaRPr lang="en-US" sz="1200" dirty="0"/>
          </a:p>
        </p:txBody>
      </p:sp>
      <p:sp>
        <p:nvSpPr>
          <p:cNvPr id="5" name="Text 3"/>
          <p:cNvSpPr/>
          <p:nvPr/>
        </p:nvSpPr>
        <p:spPr>
          <a:xfrm>
            <a:off x="1168400" y="2392680"/>
            <a:ext cx="457835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A1E2E"/>
                </a:solidFill>
                <a:latin typeface="DM Sans" pitchFamily="34" charset="0"/>
                <a:ea typeface="DM Sans" pitchFamily="34" charset="-122"/>
                <a:cs typeface="DM Sans" pitchFamily="34" charset="-120"/>
              </a:rPr>
              <a:t>Çevrim içi varlık yok</a:t>
            </a:r>
            <a:endParaRPr lang="en-US" sz="2200" dirty="0"/>
          </a:p>
        </p:txBody>
      </p:sp>
      <p:sp>
        <p:nvSpPr>
          <p:cNvPr id="6" name="Text 4"/>
          <p:cNvSpPr/>
          <p:nvPr/>
        </p:nvSpPr>
        <p:spPr>
          <a:xfrm>
            <a:off x="1168400" y="2880360"/>
            <a:ext cx="457835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A4651"/>
                </a:solidFill>
                <a:latin typeface="DM Sans" pitchFamily="34" charset="0"/>
                <a:ea typeface="DM Sans" pitchFamily="34" charset="-122"/>
                <a:cs typeface="DM Sans" pitchFamily="34" charset="-120"/>
              </a:rPr>
              <a:t>Hizmet, fiyat, konum bilgisi ve randevu talepleri yalnızca telefonla yürüyor. Mobilden araştıran müşteri merkezi bulamıyor.</a:t>
            </a:r>
            <a:endParaRPr lang="en-US" sz="1600" dirty="0"/>
          </a:p>
        </p:txBody>
      </p:sp>
      <p:sp>
        <p:nvSpPr>
          <p:cNvPr id="7" name="Shape 5"/>
          <p:cNvSpPr/>
          <p:nvPr/>
        </p:nvSpPr>
        <p:spPr>
          <a:xfrm>
            <a:off x="6223000" y="1671320"/>
            <a:ext cx="5156200" cy="4170680"/>
          </a:xfrm>
          <a:prstGeom prst="roundRect">
            <a:avLst>
              <a:gd name="adj" fmla="val 3654"/>
            </a:avLst>
          </a:prstGeom>
          <a:solidFill>
            <a:srgbClr val="3A1E2E"/>
          </a:solidFill>
          <a:ln/>
        </p:spPr>
      </p:sp>
      <p:sp>
        <p:nvSpPr>
          <p:cNvPr id="8" name="Text 6"/>
          <p:cNvSpPr/>
          <p:nvPr/>
        </p:nvSpPr>
        <p:spPr>
          <a:xfrm>
            <a:off x="6578600" y="2026920"/>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2B6CB"/>
                </a:solidFill>
                <a:latin typeface="DM Sans" pitchFamily="34" charset="0"/>
                <a:ea typeface="DM Sans" pitchFamily="34" charset="-122"/>
                <a:cs typeface="DM Sans" pitchFamily="34" charset="-120"/>
              </a:rPr>
              <a:t>HEDEF</a:t>
            </a:r>
            <a:endParaRPr lang="en-US" sz="1200" dirty="0"/>
          </a:p>
        </p:txBody>
      </p:sp>
      <p:sp>
        <p:nvSpPr>
          <p:cNvPr id="9" name="Text 7"/>
          <p:cNvSpPr/>
          <p:nvPr/>
        </p:nvSpPr>
        <p:spPr>
          <a:xfrm>
            <a:off x="6578600" y="2392680"/>
            <a:ext cx="457835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EEF2"/>
                </a:solidFill>
                <a:latin typeface="DM Sans" pitchFamily="34" charset="0"/>
                <a:ea typeface="DM Sans" pitchFamily="34" charset="-122"/>
                <a:cs typeface="DM Sans" pitchFamily="34" charset="-120"/>
              </a:rPr>
              <a:t>Tek mobil site, 0 TL</a:t>
            </a:r>
            <a:endParaRPr lang="en-US" sz="2200" dirty="0"/>
          </a:p>
        </p:txBody>
      </p:sp>
      <p:sp>
        <p:nvSpPr>
          <p:cNvPr id="10" name="Text 8"/>
          <p:cNvSpPr/>
          <p:nvPr/>
        </p:nvSpPr>
        <p:spPr>
          <a:xfrm>
            <a:off x="6578600" y="2880360"/>
            <a:ext cx="457835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D6DF"/>
                </a:solidFill>
                <a:latin typeface="DM Sans" pitchFamily="34" charset="0"/>
                <a:ea typeface="DM Sans" pitchFamily="34" charset="-122"/>
                <a:cs typeface="DM Sans" pitchFamily="34" charset="-120"/>
              </a:rPr>
              <a:t>Hizmetler, konum ve iletişim tek sitede. Randevu talebine Instagram ya da WhatsApp üzerinden en fazla 2 dokunuşta ulaşılıyor.</a:t>
            </a:r>
            <a:endParaRPr lang="en-US" sz="1600" dirty="0"/>
          </a:p>
        </p:txBody>
      </p:sp>
      <p:sp>
        <p:nvSpPr>
          <p:cNvPr id="11" name="Text 9"/>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6A74"/>
                </a:solidFill>
                <a:latin typeface="DM Sans" pitchFamily="34" charset="0"/>
                <a:ea typeface="DM Sans" pitchFamily="34" charset="-122"/>
                <a:cs typeface="DM Sans" pitchFamily="34" charset="-120"/>
              </a:rPr>
              <a:t>Rapor §3 ve §4 · Mevcut durum ölçümleri ikinci müşteri görüşmesinde alınacak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3A1E2E"/>
                </a:solidFill>
                <a:latin typeface="Cormorant Garamond" pitchFamily="18" charset="0"/>
                <a:ea typeface="Cormorant Garamond" pitchFamily="18" charset="-122"/>
                <a:cs typeface="Cormorant Garamond" pitchFamily="18" charset="-120"/>
              </a:rPr>
              <a:t>Kapsam: ne yapıyoruz, ne yapmıyoruz</a:t>
            </a:r>
            <a:endParaRPr lang="en-US" sz="3600" dirty="0"/>
          </a:p>
        </p:txBody>
      </p:sp>
      <p:sp>
        <p:nvSpPr>
          <p:cNvPr id="3" name="Shape 1"/>
          <p:cNvSpPr/>
          <p:nvPr/>
        </p:nvSpPr>
        <p:spPr>
          <a:xfrm>
            <a:off x="819150" y="1677670"/>
            <a:ext cx="5153660" cy="2552700"/>
          </a:xfrm>
          <a:prstGeom prst="roundRect">
            <a:avLst>
              <a:gd name="adj" fmla="val 5721"/>
            </a:avLst>
          </a:prstGeom>
          <a:solidFill>
            <a:srgbClr val="FFFDFC"/>
          </a:solidFill>
          <a:ln w="12700">
            <a:solidFill>
              <a:srgbClr val="E4D3DC"/>
            </a:solidFill>
            <a:prstDash val="solid"/>
          </a:ln>
        </p:spPr>
      </p:sp>
      <p:sp>
        <p:nvSpPr>
          <p:cNvPr id="4" name="Text 2"/>
          <p:cNvSpPr/>
          <p:nvPr/>
        </p:nvSpPr>
        <p:spPr>
          <a:xfrm>
            <a:off x="1127760" y="1986280"/>
            <a:ext cx="467253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A2E55"/>
                </a:solidFill>
                <a:latin typeface="DM Sans" pitchFamily="34" charset="0"/>
                <a:ea typeface="DM Sans" pitchFamily="34" charset="-122"/>
                <a:cs typeface="DM Sans" pitchFamily="34" charset="-120"/>
              </a:rPr>
              <a:t>Kapsam içi</a:t>
            </a:r>
            <a:endParaRPr lang="en-US" sz="2200" dirty="0"/>
          </a:p>
        </p:txBody>
      </p:sp>
      <p:sp>
        <p:nvSpPr>
          <p:cNvPr id="5" name="Text 3"/>
          <p:cNvSpPr/>
          <p:nvPr/>
        </p:nvSpPr>
        <p:spPr>
          <a:xfrm>
            <a:off x="1191768" y="2448561"/>
            <a:ext cx="4600905" cy="1498600"/>
          </a:xfrm>
          <a:prstGeom prst="rect">
            <a:avLst/>
          </a:prstGeom>
          <a:noFill/>
          <a:ln/>
        </p:spPr>
        <p:txBody>
          <a:bodyPr wrap="square" lIns="0" tIns="0" rIns="0" bIns="0" rtlCol="0" anchor="t">
            <a:normAutofit/>
          </a:bodyPr>
          <a:lstStyle/>
          <a:p>
            <a:pPr algn="l" marL="189992" indent="-189992">
              <a:lnSpc>
                <a:spcPts val="2320"/>
              </a:lnSpc>
              <a:buSzPct val="100000"/>
              <a:buChar char="•"/>
            </a:pPr>
            <a:r>
              <a:rPr lang="en-US" sz="1600" dirty="0">
                <a:solidFill>
                  <a:srgbClr val="3A1E2E"/>
                </a:solidFill>
                <a:latin typeface="DM Sans" pitchFamily="34" charset="0"/>
                <a:ea typeface="DM Sans" pitchFamily="34" charset="-122"/>
                <a:cs typeface="DM Sans" pitchFamily="34" charset="-120"/>
              </a:rPr>
              <a:t>Ana sayfa ve marka alanı</a:t>
            </a:r>
            <a:endParaRPr lang="en-US" sz="1600" dirty="0"/>
          </a:p>
          <a:p>
            <a:pPr algn="l" marL="189992" indent="-189992">
              <a:lnSpc>
                <a:spcPts val="2320"/>
              </a:lnSpc>
              <a:buSzPct val="100000"/>
              <a:buChar char="•"/>
            </a:pPr>
            <a:r>
              <a:rPr lang="en-US" sz="1600" dirty="0">
                <a:solidFill>
                  <a:srgbClr val="3A1E2E"/>
                </a:solidFill>
                <a:latin typeface="DM Sans" pitchFamily="34" charset="0"/>
                <a:ea typeface="DM Sans" pitchFamily="34" charset="-122"/>
                <a:cs typeface="DM Sans" pitchFamily="34" charset="-120"/>
              </a:rPr>
              <a:t>Hizmet kartları ve detay sayfaları</a:t>
            </a:r>
            <a:endParaRPr lang="en-US" sz="1600" dirty="0"/>
          </a:p>
          <a:p>
            <a:pPr algn="l" marL="189992" indent="-189992">
              <a:lnSpc>
                <a:spcPts val="2320"/>
              </a:lnSpc>
              <a:buSzPct val="100000"/>
              <a:buChar char="•"/>
            </a:pPr>
            <a:r>
              <a:rPr lang="en-US" sz="1600" dirty="0">
                <a:solidFill>
                  <a:srgbClr val="3A1E2E"/>
                </a:solidFill>
                <a:latin typeface="DM Sans" pitchFamily="34" charset="0"/>
                <a:ea typeface="DM Sans" pitchFamily="34" charset="-122"/>
                <a:cs typeface="DM Sans" pitchFamily="34" charset="-120"/>
              </a:rPr>
              <a:t>Instagram / WhatsApp randevu butonu</a:t>
            </a:r>
            <a:endParaRPr lang="en-US" sz="1600" dirty="0"/>
          </a:p>
          <a:p>
            <a:pPr algn="l" marL="189992" indent="-189992">
              <a:lnSpc>
                <a:spcPts val="2320"/>
              </a:lnSpc>
              <a:buSzPct val="100000"/>
              <a:buChar char="•"/>
            </a:pPr>
            <a:r>
              <a:rPr lang="en-US" sz="1600" dirty="0">
                <a:solidFill>
                  <a:srgbClr val="3A1E2E"/>
                </a:solidFill>
                <a:latin typeface="DM Sans" pitchFamily="34" charset="0"/>
                <a:ea typeface="DM Sans" pitchFamily="34" charset="-122"/>
                <a:cs typeface="DM Sans" pitchFamily="34" charset="-120"/>
              </a:rPr>
              <a:t>Adres, yol tarifi, saatler, telefon</a:t>
            </a:r>
            <a:endParaRPr lang="en-US" sz="1600" dirty="0"/>
          </a:p>
          <a:p>
            <a:pPr algn="l" marL="189992" indent="-189992">
              <a:lnSpc>
                <a:spcPts val="2320"/>
              </a:lnSpc>
              <a:buSzPct val="100000"/>
              <a:buChar char="•"/>
            </a:pPr>
            <a:r>
              <a:rPr lang="en-US" sz="1600" dirty="0">
                <a:solidFill>
                  <a:srgbClr val="3A1E2E"/>
                </a:solidFill>
                <a:latin typeface="DM Sans" pitchFamily="34" charset="0"/>
                <a:ea typeface="DM Sans" pitchFamily="34" charset="-122"/>
                <a:cs typeface="DM Sans" pitchFamily="34" charset="-120"/>
              </a:rPr>
              <a:t>Mobil uyum ve her sürümde test</a:t>
            </a:r>
            <a:endParaRPr lang="en-US" sz="1600" dirty="0"/>
          </a:p>
        </p:txBody>
      </p:sp>
      <p:sp>
        <p:nvSpPr>
          <p:cNvPr id="6" name="Shape 4"/>
          <p:cNvSpPr/>
          <p:nvPr/>
        </p:nvSpPr>
        <p:spPr>
          <a:xfrm>
            <a:off x="6233160" y="1671320"/>
            <a:ext cx="5146040" cy="2565400"/>
          </a:xfrm>
          <a:prstGeom prst="roundRect">
            <a:avLst>
              <a:gd name="adj" fmla="val 5941"/>
            </a:avLst>
          </a:prstGeom>
          <a:solidFill>
            <a:srgbClr val="F3E8EE"/>
          </a:solidFill>
          <a:ln/>
        </p:spPr>
      </p:sp>
      <p:sp>
        <p:nvSpPr>
          <p:cNvPr id="7" name="Text 5"/>
          <p:cNvSpPr/>
          <p:nvPr/>
        </p:nvSpPr>
        <p:spPr>
          <a:xfrm>
            <a:off x="6537960" y="1976120"/>
            <a:ext cx="467253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5A4651"/>
                </a:solidFill>
                <a:latin typeface="DM Sans" pitchFamily="34" charset="0"/>
                <a:ea typeface="DM Sans" pitchFamily="34" charset="-122"/>
                <a:cs typeface="DM Sans" pitchFamily="34" charset="-120"/>
              </a:rPr>
              <a:t>Kapsam dışı</a:t>
            </a:r>
            <a:endParaRPr lang="en-US" sz="2200" dirty="0"/>
          </a:p>
        </p:txBody>
      </p:sp>
      <p:sp>
        <p:nvSpPr>
          <p:cNvPr id="8" name="Text 6"/>
          <p:cNvSpPr/>
          <p:nvPr/>
        </p:nvSpPr>
        <p:spPr>
          <a:xfrm>
            <a:off x="6601968" y="2438400"/>
            <a:ext cx="4600905" cy="1498600"/>
          </a:xfrm>
          <a:prstGeom prst="rect">
            <a:avLst/>
          </a:prstGeom>
          <a:noFill/>
          <a:ln/>
        </p:spPr>
        <p:txBody>
          <a:bodyPr wrap="square" lIns="0" tIns="0" rIns="0" bIns="0" rtlCol="0" anchor="t">
            <a:normAutofit/>
          </a:bodyPr>
          <a:lstStyle/>
          <a:p>
            <a:pPr algn="l" marL="189992" indent="-189992">
              <a:lnSpc>
                <a:spcPts val="2320"/>
              </a:lnSpc>
              <a:buSzPct val="100000"/>
              <a:buChar char="•"/>
            </a:pPr>
            <a:r>
              <a:rPr lang="en-US" sz="1600" dirty="0">
                <a:solidFill>
                  <a:srgbClr val="5A4651"/>
                </a:solidFill>
                <a:latin typeface="DM Sans" pitchFamily="34" charset="0"/>
                <a:ea typeface="DM Sans" pitchFamily="34" charset="-122"/>
                <a:cs typeface="DM Sans" pitchFamily="34" charset="-120"/>
              </a:rPr>
              <a:t>SMS ve bildirim (2. sürüm)</a:t>
            </a:r>
            <a:endParaRPr lang="en-US" sz="1600" dirty="0"/>
          </a:p>
          <a:p>
            <a:pPr algn="l" marL="189992" indent="-189992">
              <a:lnSpc>
                <a:spcPts val="2320"/>
              </a:lnSpc>
              <a:buSzPct val="100000"/>
              <a:buChar char="•"/>
            </a:pPr>
            <a:r>
              <a:rPr lang="en-US" sz="1600" dirty="0">
                <a:solidFill>
                  <a:srgbClr val="5A4651"/>
                </a:solidFill>
                <a:latin typeface="DM Sans" pitchFamily="34" charset="0"/>
                <a:ea typeface="DM Sans" pitchFamily="34" charset="-122"/>
                <a:cs typeface="DM Sans" pitchFamily="34" charset="-120"/>
              </a:rPr>
              <a:t>Takvimli randevu sistemi</a:t>
            </a:r>
            <a:endParaRPr lang="en-US" sz="1600" dirty="0"/>
          </a:p>
          <a:p>
            <a:pPr algn="l" marL="189992" indent="-189992">
              <a:lnSpc>
                <a:spcPts val="2320"/>
              </a:lnSpc>
              <a:buSzPct val="100000"/>
              <a:buChar char="•"/>
            </a:pPr>
            <a:r>
              <a:rPr lang="en-US" sz="1600" dirty="0">
                <a:solidFill>
                  <a:srgbClr val="5A4651"/>
                </a:solidFill>
                <a:latin typeface="DM Sans" pitchFamily="34" charset="0"/>
                <a:ea typeface="DM Sans" pitchFamily="34" charset="-122"/>
                <a:cs typeface="DM Sans" pitchFamily="34" charset="-120"/>
              </a:rPr>
              <a:t>Çevrim içi ödeme</a:t>
            </a:r>
            <a:endParaRPr lang="en-US" sz="1600" dirty="0"/>
          </a:p>
          <a:p>
            <a:pPr algn="l" marL="189992" indent="-189992">
              <a:lnSpc>
                <a:spcPts val="2320"/>
              </a:lnSpc>
              <a:buSzPct val="100000"/>
              <a:buChar char="•"/>
            </a:pPr>
            <a:r>
              <a:rPr lang="en-US" sz="1600" dirty="0">
                <a:solidFill>
                  <a:srgbClr val="5A4651"/>
                </a:solidFill>
                <a:latin typeface="DM Sans" pitchFamily="34" charset="0"/>
                <a:ea typeface="DM Sans" pitchFamily="34" charset="-122"/>
                <a:cs typeface="DM Sans" pitchFamily="34" charset="-120"/>
              </a:rPr>
              <a:t>Üyelik ve rol sistemi</a:t>
            </a:r>
            <a:endParaRPr lang="en-US" sz="1600" dirty="0"/>
          </a:p>
          <a:p>
            <a:pPr algn="l" marL="189992" indent="-189992">
              <a:lnSpc>
                <a:spcPts val="2320"/>
              </a:lnSpc>
              <a:buSzPct val="100000"/>
              <a:buChar char="•"/>
            </a:pPr>
            <a:r>
              <a:rPr lang="en-US" sz="1600" dirty="0">
                <a:solidFill>
                  <a:srgbClr val="5A4651"/>
                </a:solidFill>
                <a:latin typeface="DM Sans" pitchFamily="34" charset="0"/>
                <a:ea typeface="DM Sans" pitchFamily="34" charset="-122"/>
                <a:cs typeface="DM Sans" pitchFamily="34" charset="-120"/>
              </a:rPr>
              <a:t>Ücretli API, yönetim paneli</a:t>
            </a:r>
            <a:endParaRPr lang="en-US" sz="1600" dirty="0"/>
          </a:p>
        </p:txBody>
      </p:sp>
      <p:sp>
        <p:nvSpPr>
          <p:cNvPr id="9" name="Text 7"/>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6A74"/>
                </a:solidFill>
                <a:latin typeface="DM Sans" pitchFamily="34" charset="0"/>
                <a:ea typeface="DM Sans" pitchFamily="34" charset="-122"/>
                <a:cs typeface="DM Sans" pitchFamily="34" charset="-120"/>
              </a:rPr>
              <a:t>Rapor §3 ve §5 · Zorunlu gereksinimler: G1, G2, G3, G4, G7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8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3A1E2E"/>
                </a:solidFill>
                <a:latin typeface="Cormorant Garamond" pitchFamily="18" charset="0"/>
                <a:ea typeface="Cormorant Garamond" pitchFamily="18" charset="-122"/>
                <a:cs typeface="Cormorant Garamond" pitchFamily="18" charset="-120"/>
              </a:rPr>
              <a:t>Teknik yaklaşım ve süreç</a:t>
            </a:r>
            <a:endParaRPr lang="en-US" sz="3600" dirty="0"/>
          </a:p>
        </p:txBody>
      </p:sp>
      <p:sp>
        <p:nvSpPr>
          <p:cNvPr id="3" name="Shape 1"/>
          <p:cNvSpPr/>
          <p:nvPr/>
        </p:nvSpPr>
        <p:spPr>
          <a:xfrm>
            <a:off x="812800" y="1671320"/>
            <a:ext cx="3386614" cy="2458720"/>
          </a:xfrm>
          <a:prstGeom prst="roundRect">
            <a:avLst>
              <a:gd name="adj" fmla="val 6198"/>
            </a:avLst>
          </a:prstGeom>
          <a:solidFill>
            <a:srgbClr val="FFFDFC"/>
          </a:solidFill>
          <a:ln/>
        </p:spPr>
      </p:sp>
      <p:pic>
        <p:nvPicPr>
          <p:cNvPr id="4" name="Image 0" descr="Code">    </p:cNvPr>
          <p:cNvPicPr>
            <a:picLocks noChangeAspect="1"/>
          </p:cNvPicPr>
          <p:nvPr/>
        </p:nvPicPr>
        <p:blipFill>
          <a:blip r:embed="rId1"/>
          <a:srcRect l="0" r="0" t="0" b="0"/>
          <a:stretch/>
        </p:blipFill>
        <p:spPr>
          <a:xfrm>
            <a:off x="1117600" y="1976120"/>
            <a:ext cx="406400" cy="406400"/>
          </a:xfrm>
          <a:prstGeom prst="rect">
            <a:avLst/>
          </a:prstGeom>
        </p:spPr>
      </p:pic>
      <p:sp>
        <p:nvSpPr>
          <p:cNvPr id="5" name="Text 2"/>
          <p:cNvSpPr/>
          <p:nvPr/>
        </p:nvSpPr>
        <p:spPr>
          <a:xfrm>
            <a:off x="1117600" y="2509520"/>
            <a:ext cx="28603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A1E2E"/>
                </a:solidFill>
                <a:latin typeface="DM Sans" pitchFamily="34" charset="0"/>
                <a:ea typeface="DM Sans" pitchFamily="34" charset="-122"/>
                <a:cs typeface="DM Sans" pitchFamily="34" charset="-120"/>
              </a:rPr>
              <a:t>Statik site</a:t>
            </a:r>
            <a:endParaRPr lang="en-US" sz="2200" dirty="0"/>
          </a:p>
        </p:txBody>
      </p:sp>
      <p:sp>
        <p:nvSpPr>
          <p:cNvPr id="6" name="Text 3"/>
          <p:cNvSpPr/>
          <p:nvPr/>
        </p:nvSpPr>
        <p:spPr>
          <a:xfrm>
            <a:off x="1117600" y="2971800"/>
            <a:ext cx="286032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A4651"/>
                </a:solidFill>
                <a:latin typeface="DM Sans" pitchFamily="34" charset="0"/>
                <a:ea typeface="DM Sans" pitchFamily="34" charset="-122"/>
                <a:cs typeface="DM Sans" pitchFamily="34" charset="-120"/>
              </a:rPr>
              <a:t>HTML ve CSS, GitHub Pages’te yayın. Sunucu yok, maliyet 0 TL.</a:t>
            </a:r>
            <a:endParaRPr lang="en-US" sz="1600" dirty="0"/>
          </a:p>
        </p:txBody>
      </p:sp>
      <p:sp>
        <p:nvSpPr>
          <p:cNvPr id="7" name="Shape 4"/>
          <p:cNvSpPr/>
          <p:nvPr/>
        </p:nvSpPr>
        <p:spPr>
          <a:xfrm>
            <a:off x="4402614" y="1671320"/>
            <a:ext cx="3386693" cy="2458720"/>
          </a:xfrm>
          <a:prstGeom prst="roundRect">
            <a:avLst>
              <a:gd name="adj" fmla="val 6198"/>
            </a:avLst>
          </a:prstGeom>
          <a:solidFill>
            <a:srgbClr val="FFFDFC"/>
          </a:solidFill>
          <a:ln/>
        </p:spPr>
      </p:sp>
      <p:pic>
        <p:nvPicPr>
          <p:cNvPr id="8" name="Image 1" descr="Chat">    </p:cNvPr>
          <p:cNvPicPr>
            <a:picLocks noChangeAspect="1"/>
          </p:cNvPicPr>
          <p:nvPr/>
        </p:nvPicPr>
        <p:blipFill>
          <a:blip r:embed="rId2"/>
          <a:srcRect l="0" r="0" t="0" b="0"/>
          <a:stretch/>
        </p:blipFill>
        <p:spPr>
          <a:xfrm>
            <a:off x="4707414" y="1976120"/>
            <a:ext cx="406400" cy="406400"/>
          </a:xfrm>
          <a:prstGeom prst="rect">
            <a:avLst/>
          </a:prstGeom>
        </p:spPr>
      </p:pic>
      <p:sp>
        <p:nvSpPr>
          <p:cNvPr id="9" name="Text 5"/>
          <p:cNvSpPr/>
          <p:nvPr/>
        </p:nvSpPr>
        <p:spPr>
          <a:xfrm>
            <a:off x="4707414" y="2509520"/>
            <a:ext cx="286040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A1E2E"/>
                </a:solidFill>
                <a:latin typeface="DM Sans" pitchFamily="34" charset="0"/>
                <a:ea typeface="DM Sans" pitchFamily="34" charset="-122"/>
                <a:cs typeface="DM Sans" pitchFamily="34" charset="-120"/>
              </a:rPr>
              <a:t>Randevu bağlantısı</a:t>
            </a:r>
            <a:endParaRPr lang="en-US" sz="2200" dirty="0"/>
          </a:p>
        </p:txBody>
      </p:sp>
      <p:sp>
        <p:nvSpPr>
          <p:cNvPr id="10" name="Text 6"/>
          <p:cNvSpPr/>
          <p:nvPr/>
        </p:nvSpPr>
        <p:spPr>
          <a:xfrm>
            <a:off x="4707414" y="2971800"/>
            <a:ext cx="2860406"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A4651"/>
                </a:solidFill>
                <a:latin typeface="DM Sans" pitchFamily="34" charset="0"/>
                <a:ea typeface="DM Sans" pitchFamily="34" charset="-122"/>
                <a:cs typeface="DM Sans" pitchFamily="34" charset="-120"/>
              </a:rPr>
              <a:t>Instagram DM ve WhatsApp kısa bağlantısı. Ücretli SMS yok.</a:t>
            </a:r>
            <a:endParaRPr lang="en-US" sz="1600" dirty="0"/>
          </a:p>
        </p:txBody>
      </p:sp>
      <p:sp>
        <p:nvSpPr>
          <p:cNvPr id="11" name="Shape 7"/>
          <p:cNvSpPr/>
          <p:nvPr/>
        </p:nvSpPr>
        <p:spPr>
          <a:xfrm>
            <a:off x="7992507" y="1671320"/>
            <a:ext cx="3386693" cy="2458720"/>
          </a:xfrm>
          <a:prstGeom prst="roundRect">
            <a:avLst>
              <a:gd name="adj" fmla="val 6198"/>
            </a:avLst>
          </a:prstGeom>
          <a:solidFill>
            <a:srgbClr val="FFFDFC"/>
          </a:solidFill>
          <a:ln/>
        </p:spPr>
      </p:sp>
      <p:pic>
        <p:nvPicPr>
          <p:cNvPr id="12" name="Image 2" descr="Clock">    </p:cNvPr>
          <p:cNvPicPr>
            <a:picLocks noChangeAspect="1"/>
          </p:cNvPicPr>
          <p:nvPr/>
        </p:nvPicPr>
        <p:blipFill>
          <a:blip r:embed="rId3"/>
          <a:srcRect l="0" r="0" t="0" b="0"/>
          <a:stretch/>
        </p:blipFill>
        <p:spPr>
          <a:xfrm>
            <a:off x="8297307" y="1976120"/>
            <a:ext cx="406400" cy="406400"/>
          </a:xfrm>
          <a:prstGeom prst="rect">
            <a:avLst/>
          </a:prstGeom>
        </p:spPr>
      </p:pic>
      <p:sp>
        <p:nvSpPr>
          <p:cNvPr id="13" name="Text 8"/>
          <p:cNvSpPr/>
          <p:nvPr/>
        </p:nvSpPr>
        <p:spPr>
          <a:xfrm>
            <a:off x="8297307" y="2509520"/>
            <a:ext cx="286040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A1E2E"/>
                </a:solidFill>
                <a:latin typeface="DM Sans" pitchFamily="34" charset="0"/>
                <a:ea typeface="DM Sans" pitchFamily="34" charset="-122"/>
                <a:cs typeface="DM Sans" pitchFamily="34" charset="-120"/>
              </a:rPr>
              <a:t>1 haftalık sprint</a:t>
            </a:r>
            <a:endParaRPr lang="en-US" sz="2200" dirty="0"/>
          </a:p>
        </p:txBody>
      </p:sp>
      <p:sp>
        <p:nvSpPr>
          <p:cNvPr id="14" name="Text 9"/>
          <p:cNvSpPr/>
          <p:nvPr/>
        </p:nvSpPr>
        <p:spPr>
          <a:xfrm>
            <a:off x="8297307" y="2971800"/>
            <a:ext cx="2860406"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A4651"/>
                </a:solidFill>
                <a:latin typeface="DM Sans" pitchFamily="34" charset="0"/>
                <a:ea typeface="DM Sans" pitchFamily="34" charset="-122"/>
                <a:cs typeface="DM Sans" pitchFamily="34" charset="-120"/>
              </a:rPr>
              <a:t>Kanban panosu, haftalık müşteri geri bildirimi, her hafta çalışan sürüm.</a:t>
            </a:r>
            <a:endParaRPr lang="en-US" sz="1600" dirty="0"/>
          </a:p>
        </p:txBody>
      </p:sp>
      <p:sp>
        <p:nvSpPr>
          <p:cNvPr id="15" name="Text 10"/>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6A74"/>
                </a:solidFill>
                <a:latin typeface="DM Sans" pitchFamily="34" charset="0"/>
                <a:ea typeface="DM Sans" pitchFamily="34" charset="-122"/>
                <a:cs typeface="DM Sans" pitchFamily="34" charset="-120"/>
              </a:rPr>
              <a:t>Rapor §6 ve §7 · Alternatifler: hazır site kurucu, açık kaynak şablon, sıfırdan statik site (seçildi)</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3A1E2E"/>
                </a:solidFill>
                <a:latin typeface="Cormorant Garamond" pitchFamily="18" charset="0"/>
                <a:ea typeface="Cormorant Garamond" pitchFamily="18" charset="-122"/>
                <a:cs typeface="Cormorant Garamond" pitchFamily="18" charset="-120"/>
              </a:rPr>
              <a:t>Kilometre taşları</a:t>
            </a:r>
            <a:endParaRPr lang="en-US" sz="3600" dirty="0"/>
          </a:p>
        </p:txBody>
      </p:sp>
      <p:sp>
        <p:nvSpPr>
          <p:cNvPr id="3" name="Shape 1"/>
          <p:cNvSpPr/>
          <p:nvPr/>
        </p:nvSpPr>
        <p:spPr>
          <a:xfrm>
            <a:off x="812800" y="1671321"/>
            <a:ext cx="2527300" cy="2194560"/>
          </a:xfrm>
          <a:prstGeom prst="roundRect">
            <a:avLst>
              <a:gd name="adj" fmla="val 6944"/>
            </a:avLst>
          </a:prstGeom>
          <a:solidFill>
            <a:srgbClr val="F3E8EE"/>
          </a:solidFill>
          <a:ln/>
        </p:spPr>
      </p:sp>
      <p:sp>
        <p:nvSpPr>
          <p:cNvPr id="4" name="Text 2"/>
          <p:cNvSpPr/>
          <p:nvPr/>
        </p:nvSpPr>
        <p:spPr>
          <a:xfrm>
            <a:off x="1066800" y="1925321"/>
            <a:ext cx="207987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2E55"/>
                </a:solidFill>
                <a:latin typeface="DM Sans" pitchFamily="34" charset="0"/>
                <a:ea typeface="DM Sans" pitchFamily="34" charset="-122"/>
                <a:cs typeface="DM Sans" pitchFamily="34" charset="-120"/>
              </a:rPr>
              <a:t>HAFTA 1 · K1</a:t>
            </a:r>
            <a:endParaRPr lang="en-US" sz="1200" dirty="0"/>
          </a:p>
        </p:txBody>
      </p:sp>
      <p:sp>
        <p:nvSpPr>
          <p:cNvPr id="5" name="Text 3"/>
          <p:cNvSpPr/>
          <p:nvPr/>
        </p:nvSpPr>
        <p:spPr>
          <a:xfrm>
            <a:off x="1066800" y="2240282"/>
            <a:ext cx="20798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A1E2E"/>
                </a:solidFill>
                <a:latin typeface="DM Sans" pitchFamily="34" charset="0"/>
                <a:ea typeface="DM Sans" pitchFamily="34" charset="-122"/>
                <a:cs typeface="DM Sans" pitchFamily="34" charset="-120"/>
              </a:rPr>
              <a:t>Kapsam</a:t>
            </a:r>
            <a:endParaRPr lang="en-US" sz="1800" dirty="0"/>
          </a:p>
        </p:txBody>
      </p:sp>
      <p:sp>
        <p:nvSpPr>
          <p:cNvPr id="6" name="Text 4"/>
          <p:cNvSpPr/>
          <p:nvPr/>
        </p:nvSpPr>
        <p:spPr>
          <a:xfrm>
            <a:off x="1066800" y="2616200"/>
            <a:ext cx="207987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651"/>
                </a:solidFill>
                <a:latin typeface="DM Sans" pitchFamily="34" charset="0"/>
                <a:ea typeface="DM Sans" pitchFamily="34" charset="-122"/>
                <a:cs typeface="DM Sans" pitchFamily="34" charset="-120"/>
              </a:rPr>
              <a:t>Kararlar, ilk görüşme, kanvas, gereksinim ve risk listesi. Tamamlandı.</a:t>
            </a:r>
            <a:endParaRPr lang="en-US" sz="1400" dirty="0"/>
          </a:p>
        </p:txBody>
      </p:sp>
      <p:sp>
        <p:nvSpPr>
          <p:cNvPr id="7" name="Shape 5"/>
          <p:cNvSpPr/>
          <p:nvPr/>
        </p:nvSpPr>
        <p:spPr>
          <a:xfrm>
            <a:off x="3492500" y="1671321"/>
            <a:ext cx="2527300" cy="2194560"/>
          </a:xfrm>
          <a:prstGeom prst="roundRect">
            <a:avLst>
              <a:gd name="adj" fmla="val 6944"/>
            </a:avLst>
          </a:prstGeom>
          <a:solidFill>
            <a:srgbClr val="F3E8EE"/>
          </a:solidFill>
          <a:ln/>
        </p:spPr>
      </p:sp>
      <p:sp>
        <p:nvSpPr>
          <p:cNvPr id="8" name="Text 6"/>
          <p:cNvSpPr/>
          <p:nvPr/>
        </p:nvSpPr>
        <p:spPr>
          <a:xfrm>
            <a:off x="3746500" y="1925321"/>
            <a:ext cx="207987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2E55"/>
                </a:solidFill>
                <a:latin typeface="DM Sans" pitchFamily="34" charset="0"/>
                <a:ea typeface="DM Sans" pitchFamily="34" charset="-122"/>
                <a:cs typeface="DM Sans" pitchFamily="34" charset="-120"/>
              </a:rPr>
              <a:t>HAFTA 2 · K2</a:t>
            </a:r>
            <a:endParaRPr lang="en-US" sz="1200" dirty="0"/>
          </a:p>
        </p:txBody>
      </p:sp>
      <p:sp>
        <p:nvSpPr>
          <p:cNvPr id="9" name="Text 7"/>
          <p:cNvSpPr/>
          <p:nvPr/>
        </p:nvSpPr>
        <p:spPr>
          <a:xfrm>
            <a:off x="3746500" y="2240282"/>
            <a:ext cx="20798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A1E2E"/>
                </a:solidFill>
                <a:latin typeface="DM Sans" pitchFamily="34" charset="0"/>
                <a:ea typeface="DM Sans" pitchFamily="34" charset="-122"/>
                <a:cs typeface="DM Sans" pitchFamily="34" charset="-120"/>
              </a:rPr>
              <a:t>Prototip</a:t>
            </a:r>
            <a:endParaRPr lang="en-US" sz="1800" dirty="0"/>
          </a:p>
        </p:txBody>
      </p:sp>
      <p:sp>
        <p:nvSpPr>
          <p:cNvPr id="10" name="Text 8"/>
          <p:cNvSpPr/>
          <p:nvPr/>
        </p:nvSpPr>
        <p:spPr>
          <a:xfrm>
            <a:off x="3746500" y="2616200"/>
            <a:ext cx="2079879"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651"/>
                </a:solidFill>
                <a:latin typeface="DM Sans" pitchFamily="34" charset="0"/>
                <a:ea typeface="DM Sans" pitchFamily="34" charset="-122"/>
                <a:cs typeface="DM Sans" pitchFamily="34" charset="-120"/>
              </a:rPr>
              <a:t>Sayfalar depoda, randevu butonu bağlı, ikinci müşteri görüşmesi.</a:t>
            </a:r>
            <a:endParaRPr lang="en-US" sz="1400" dirty="0"/>
          </a:p>
        </p:txBody>
      </p:sp>
      <p:sp>
        <p:nvSpPr>
          <p:cNvPr id="11" name="Shape 9"/>
          <p:cNvSpPr/>
          <p:nvPr/>
        </p:nvSpPr>
        <p:spPr>
          <a:xfrm>
            <a:off x="6172200" y="1671321"/>
            <a:ext cx="2527300" cy="2194560"/>
          </a:xfrm>
          <a:prstGeom prst="roundRect">
            <a:avLst>
              <a:gd name="adj" fmla="val 6944"/>
            </a:avLst>
          </a:prstGeom>
          <a:solidFill>
            <a:srgbClr val="F3E8EE"/>
          </a:solidFill>
          <a:ln/>
        </p:spPr>
      </p:sp>
      <p:sp>
        <p:nvSpPr>
          <p:cNvPr id="12" name="Text 10"/>
          <p:cNvSpPr/>
          <p:nvPr/>
        </p:nvSpPr>
        <p:spPr>
          <a:xfrm>
            <a:off x="6426200" y="1925321"/>
            <a:ext cx="207987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2E55"/>
                </a:solidFill>
                <a:latin typeface="DM Sans" pitchFamily="34" charset="0"/>
                <a:ea typeface="DM Sans" pitchFamily="34" charset="-122"/>
                <a:cs typeface="DM Sans" pitchFamily="34" charset="-120"/>
              </a:rPr>
              <a:t>HAFTA 3 · K3</a:t>
            </a:r>
            <a:endParaRPr lang="en-US" sz="1200" dirty="0"/>
          </a:p>
        </p:txBody>
      </p:sp>
      <p:sp>
        <p:nvSpPr>
          <p:cNvPr id="13" name="Text 11"/>
          <p:cNvSpPr/>
          <p:nvPr/>
        </p:nvSpPr>
        <p:spPr>
          <a:xfrm>
            <a:off x="6426200" y="2240282"/>
            <a:ext cx="20798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A1E2E"/>
                </a:solidFill>
                <a:latin typeface="DM Sans" pitchFamily="34" charset="0"/>
                <a:ea typeface="DM Sans" pitchFamily="34" charset="-122"/>
                <a:cs typeface="DM Sans" pitchFamily="34" charset="-120"/>
              </a:rPr>
              <a:t>Yayın</a:t>
            </a:r>
            <a:endParaRPr lang="en-US" sz="1800" dirty="0"/>
          </a:p>
        </p:txBody>
      </p:sp>
      <p:sp>
        <p:nvSpPr>
          <p:cNvPr id="14" name="Text 12"/>
          <p:cNvSpPr/>
          <p:nvPr/>
        </p:nvSpPr>
        <p:spPr>
          <a:xfrm>
            <a:off x="6426200" y="2616200"/>
            <a:ext cx="207987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651"/>
                </a:solidFill>
                <a:latin typeface="DM Sans" pitchFamily="34" charset="0"/>
                <a:ea typeface="DM Sans" pitchFamily="34" charset="-122"/>
                <a:cs typeface="DM Sans" pitchFamily="34" charset="-120"/>
              </a:rPr>
              <a:t>Müşteri içeriği yerinde, site yayında, 3 telefonda test edildi.</a:t>
            </a:r>
            <a:endParaRPr lang="en-US" sz="1400" dirty="0"/>
          </a:p>
        </p:txBody>
      </p:sp>
      <p:sp>
        <p:nvSpPr>
          <p:cNvPr id="15" name="Shape 13"/>
          <p:cNvSpPr/>
          <p:nvPr/>
        </p:nvSpPr>
        <p:spPr>
          <a:xfrm>
            <a:off x="8851900" y="1671321"/>
            <a:ext cx="2527300" cy="2194560"/>
          </a:xfrm>
          <a:prstGeom prst="roundRect">
            <a:avLst>
              <a:gd name="adj" fmla="val 6944"/>
            </a:avLst>
          </a:prstGeom>
          <a:solidFill>
            <a:srgbClr val="F3E8EE"/>
          </a:solidFill>
          <a:ln/>
        </p:spPr>
      </p:sp>
      <p:sp>
        <p:nvSpPr>
          <p:cNvPr id="16" name="Text 14"/>
          <p:cNvSpPr/>
          <p:nvPr/>
        </p:nvSpPr>
        <p:spPr>
          <a:xfrm>
            <a:off x="9105900" y="1925321"/>
            <a:ext cx="207987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2E55"/>
                </a:solidFill>
                <a:latin typeface="DM Sans" pitchFamily="34" charset="0"/>
                <a:ea typeface="DM Sans" pitchFamily="34" charset="-122"/>
                <a:cs typeface="DM Sans" pitchFamily="34" charset="-120"/>
              </a:rPr>
              <a:t>HAFTA 4 · K4</a:t>
            </a:r>
            <a:endParaRPr lang="en-US" sz="1200" dirty="0"/>
          </a:p>
        </p:txBody>
      </p:sp>
      <p:sp>
        <p:nvSpPr>
          <p:cNvPr id="17" name="Text 15"/>
          <p:cNvSpPr/>
          <p:nvPr/>
        </p:nvSpPr>
        <p:spPr>
          <a:xfrm>
            <a:off x="9105900" y="2240282"/>
            <a:ext cx="20798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A1E2E"/>
                </a:solidFill>
                <a:latin typeface="DM Sans" pitchFamily="34" charset="0"/>
                <a:ea typeface="DM Sans" pitchFamily="34" charset="-122"/>
                <a:cs typeface="DM Sans" pitchFamily="34" charset="-120"/>
              </a:rPr>
              <a:t>Kabul</a:t>
            </a:r>
            <a:endParaRPr lang="en-US" sz="1800" dirty="0"/>
          </a:p>
        </p:txBody>
      </p:sp>
      <p:sp>
        <p:nvSpPr>
          <p:cNvPr id="18" name="Text 16"/>
          <p:cNvSpPr/>
          <p:nvPr/>
        </p:nvSpPr>
        <p:spPr>
          <a:xfrm>
            <a:off x="9105900" y="2616200"/>
            <a:ext cx="207987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651"/>
                </a:solidFill>
                <a:latin typeface="DM Sans" pitchFamily="34" charset="0"/>
                <a:ea typeface="DM Sans" pitchFamily="34" charset="-122"/>
                <a:cs typeface="DM Sans" pitchFamily="34" charset="-120"/>
              </a:rPr>
              <a:t>Düzeltmeler, kırık bağlantı 0, müşteri kabul onayı.</a:t>
            </a:r>
            <a:endParaRPr lang="en-US" sz="1400" dirty="0"/>
          </a:p>
        </p:txBody>
      </p:sp>
      <p:sp>
        <p:nvSpPr>
          <p:cNvPr id="19" name="Text 17"/>
          <p:cNvSpPr/>
          <p:nvPr/>
        </p:nvSpPr>
        <p:spPr>
          <a:xfrm>
            <a:off x="812800" y="4221482"/>
            <a:ext cx="10566400" cy="655320"/>
          </a:xfrm>
          <a:prstGeom prst="roundRect">
            <a:avLst>
              <a:gd name="adj" fmla="val 23256"/>
            </a:avLst>
          </a:prstGeom>
          <a:solidFill>
            <a:srgbClr val="3A1E2E"/>
          </a:solidFill>
          <a:ln/>
        </p:spPr>
        <p:txBody>
          <a:bodyPr wrap="square" lIns="209364" tIns="158564" rIns="0" bIns="133164" rtlCol="0" anchor="t">
            <a:normAutofit/>
          </a:bodyPr>
          <a:lstStyle/>
          <a:p>
            <a:pPr algn="l" indent="0" marL="0">
              <a:lnSpc>
                <a:spcPts val="1960"/>
              </a:lnSpc>
              <a:buNone/>
            </a:pPr>
            <a:r>
              <a:rPr lang="en-US" sz="1400" b="1" dirty="0">
                <a:solidFill>
                  <a:srgbClr val="F7EEF2"/>
                </a:solidFill>
                <a:latin typeface="DM Sans" pitchFamily="34" charset="0"/>
                <a:ea typeface="DM Sans" pitchFamily="34" charset="-122"/>
                <a:cs typeface="DM Sans" pitchFamily="34" charset="-120"/>
              </a:rPr>
              <a:t>Kritik yol:</a:t>
            </a:r>
            <a:r>
              <a:rPr lang="en-US" sz="1400" dirty="0">
                <a:solidFill>
                  <a:srgbClr val="F7EEF2"/>
                </a:solidFill>
                <a:latin typeface="DM Sans" pitchFamily="34" charset="0"/>
                <a:ea typeface="DM Sans" pitchFamily="34" charset="-122"/>
                <a:cs typeface="DM Sans" pitchFamily="34" charset="-120"/>
              </a:rPr>
              <a:t> Instagram hesabı ve kanal onayı → randevu butonu → müşteri içeriği → yayın → kabul</a:t>
            </a:r>
            <a:endParaRPr lang="en-US" sz="1400" dirty="0"/>
          </a:p>
        </p:txBody>
      </p:sp>
      <p:sp>
        <p:nvSpPr>
          <p:cNvPr id="20" name="Text 18"/>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6A74"/>
                </a:solidFill>
                <a:latin typeface="DM Sans" pitchFamily="34" charset="0"/>
                <a:ea typeface="DM Sans" pitchFamily="34" charset="-122"/>
                <a:cs typeface="DM Sans" pitchFamily="34" charset="-120"/>
              </a:rPr>
              <a:t>Rapor §8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8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3A1E2E"/>
                </a:solidFill>
                <a:latin typeface="Cormorant Garamond" pitchFamily="18" charset="0"/>
                <a:ea typeface="Cormorant Garamond" pitchFamily="18" charset="-122"/>
                <a:cs typeface="Cormorant Garamond" pitchFamily="18" charset="-120"/>
              </a:rPr>
              <a:t>En önemli üç risk</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30681"/>
          <a:ext cx="10556240" cy="1640840"/>
        </p:xfrm>
        <a:graphic>
          <a:graphicData uri="http://schemas.openxmlformats.org/drawingml/2006/table">
            <a:tbl>
              <a:tblPr/>
              <a:tblGrid>
                <a:gridCol w="3800246"/>
                <a:gridCol w="1266749"/>
                <a:gridCol w="5489245"/>
              </a:tblGrid>
              <a:tr h="410210">
                <a:tc>
                  <a:txBody>
                    <a:bodyPr/>
                    <a:lstStyle/>
                    <a:p>
                      <a:pPr indent="0" marL="0">
                        <a:lnSpc>
                          <a:spcPts val="2100"/>
                        </a:lnSpc>
                        <a:buNone/>
                      </a:pPr>
                      <a:r>
                        <a:rPr lang="en-US" sz="1500" b="1" dirty="0">
                          <a:solidFill>
                            <a:srgbClr val="F7EEF2"/>
                          </a:solidFill>
                          <a:latin typeface="DM Sans" pitchFamily="34" charset="0"/>
                          <a:ea typeface="DM Sans" pitchFamily="34" charset="-122"/>
                          <a:cs typeface="DM Sans" pitchFamily="34" charset="-120"/>
                        </a:rPr>
                        <a:t>Risk</a:t>
                      </a:r>
                      <a:endParaRPr lang="en-US" sz="1500" dirty="0">
                        <a:latin typeface="DM Sans" charset="0"/>
                        <a:ea typeface="DM Sans" charset="0"/>
                        <a:cs typeface="DM Sans" charset="0"/>
                      </a:endParaRPr>
                    </a:p>
                  </a:txBody>
                  <a:tcPr marL="66675" marR="66675" marT="66675" marB="66675" anchor="t">
                    <a:lnL w="12700" cap="flat" cmpd="sng" algn="ctr">
                      <a:solidFill>
                        <a:srgbClr val="C2B9BE"/>
                      </a:solidFill>
                      <a:prstDash val="solid"/>
                      <a:round/>
                      <a:headEnd type="none" w="med" len="med"/>
                      <a:tailEnd type="none" w="med" len="med"/>
                    </a:lnL>
                    <a:lnR w="12700" cap="flat" cmpd="sng" algn="ctr">
                      <a:solidFill>
                        <a:srgbClr val="321C28"/>
                      </a:solidFill>
                      <a:prstDash val="solid"/>
                      <a:round/>
                      <a:headEnd type="none" w="med" len="med"/>
                      <a:tailEnd type="none" w="med" len="med"/>
                    </a:lnR>
                    <a:lnT w="12700" cap="flat" cmpd="sng" algn="ctr">
                      <a:solidFill>
                        <a:srgbClr val="C2B9BE"/>
                      </a:solidFill>
                      <a:prstDash val="solid"/>
                      <a:round/>
                      <a:headEnd type="none" w="med" len="med"/>
                      <a:tailEnd type="none" w="med" len="med"/>
                    </a:lnT>
                    <a:lnB w="12700" cap="flat" cmpd="sng" algn="ctr">
                      <a:solidFill>
                        <a:srgbClr val="321C28"/>
                      </a:solidFill>
                      <a:prstDash val="solid"/>
                      <a:round/>
                      <a:headEnd type="none" w="med" len="med"/>
                      <a:tailEnd type="none" w="med" len="med"/>
                    </a:lnB>
                    <a:solidFill>
                      <a:srgbClr val="3A1E2E"/>
                    </a:solidFill>
                  </a:tcPr>
                </a:tc>
                <a:tc>
                  <a:txBody>
                    <a:bodyPr/>
                    <a:lstStyle/>
                    <a:p>
                      <a:pPr indent="0" marL="0">
                        <a:lnSpc>
                          <a:spcPts val="2100"/>
                        </a:lnSpc>
                        <a:buNone/>
                      </a:pPr>
                      <a:r>
                        <a:rPr lang="en-US" sz="1500" b="1" dirty="0">
                          <a:solidFill>
                            <a:srgbClr val="F7EEF2"/>
                          </a:solidFill>
                          <a:latin typeface="DM Sans" pitchFamily="34" charset="0"/>
                          <a:ea typeface="DM Sans" pitchFamily="34" charset="-122"/>
                          <a:cs typeface="DM Sans" pitchFamily="34" charset="-120"/>
                        </a:rPr>
                        <a:t>Puan</a:t>
                      </a:r>
                      <a:endParaRPr lang="en-US" sz="1500" dirty="0">
                        <a:latin typeface="DM Sans" charset="0"/>
                        <a:ea typeface="DM Sans" charset="0"/>
                        <a:cs typeface="DM Sans" charset="0"/>
                      </a:endParaRPr>
                    </a:p>
                  </a:txBody>
                  <a:tcPr marL="66675" marR="66675" marT="66675" marB="66675" anchor="t">
                    <a:lnL w="12700" cap="flat" cmpd="sng" algn="ctr">
                      <a:solidFill>
                        <a:srgbClr val="321C28"/>
                      </a:solidFill>
                      <a:prstDash val="solid"/>
                      <a:round/>
                      <a:headEnd type="none" w="med" len="med"/>
                      <a:tailEnd type="none" w="med" len="med"/>
                    </a:lnL>
                    <a:lnR w="12700" cap="flat" cmpd="sng" algn="ctr">
                      <a:solidFill>
                        <a:srgbClr val="321C28"/>
                      </a:solidFill>
                      <a:prstDash val="solid"/>
                      <a:round/>
                      <a:headEnd type="none" w="med" len="med"/>
                      <a:tailEnd type="none" w="med" len="med"/>
                    </a:lnR>
                    <a:lnT w="12700" cap="flat" cmpd="sng" algn="ctr">
                      <a:solidFill>
                        <a:srgbClr val="C2B9BE"/>
                      </a:solidFill>
                      <a:prstDash val="solid"/>
                      <a:round/>
                      <a:headEnd type="none" w="med" len="med"/>
                      <a:tailEnd type="none" w="med" len="med"/>
                    </a:lnT>
                    <a:lnB w="12700" cap="flat" cmpd="sng" algn="ctr">
                      <a:solidFill>
                        <a:srgbClr val="321C28"/>
                      </a:solidFill>
                      <a:prstDash val="solid"/>
                      <a:round/>
                      <a:headEnd type="none" w="med" len="med"/>
                      <a:tailEnd type="none" w="med" len="med"/>
                    </a:lnB>
                    <a:solidFill>
                      <a:srgbClr val="3A1E2E"/>
                    </a:solidFill>
                  </a:tcPr>
                </a:tc>
                <a:tc>
                  <a:txBody>
                    <a:bodyPr/>
                    <a:lstStyle/>
                    <a:p>
                      <a:pPr indent="0" marL="0">
                        <a:lnSpc>
                          <a:spcPts val="2100"/>
                        </a:lnSpc>
                        <a:buNone/>
                      </a:pPr>
                      <a:r>
                        <a:rPr lang="en-US" sz="1500" b="1" dirty="0">
                          <a:solidFill>
                            <a:srgbClr val="F7EEF2"/>
                          </a:solidFill>
                          <a:latin typeface="DM Sans" pitchFamily="34" charset="0"/>
                          <a:ea typeface="DM Sans" pitchFamily="34" charset="-122"/>
                          <a:cs typeface="DM Sans" pitchFamily="34" charset="-120"/>
                        </a:rPr>
                        <a:t>Yanıt</a:t>
                      </a:r>
                      <a:endParaRPr lang="en-US" sz="1500" dirty="0">
                        <a:latin typeface="DM Sans" charset="0"/>
                        <a:ea typeface="DM Sans" charset="0"/>
                        <a:cs typeface="DM Sans" charset="0"/>
                      </a:endParaRPr>
                    </a:p>
                  </a:txBody>
                  <a:tcPr marL="66675" marR="66675" marT="66675" marB="66675" anchor="t">
                    <a:lnL w="12700" cap="flat" cmpd="sng" algn="ctr">
                      <a:solidFill>
                        <a:srgbClr val="321C28"/>
                      </a:solidFill>
                      <a:prstDash val="solid"/>
                      <a:round/>
                      <a:headEnd type="none" w="med" len="med"/>
                      <a:tailEnd type="none" w="med" len="med"/>
                    </a:lnL>
                    <a:lnR w="12700" cap="flat" cmpd="sng" algn="ctr">
                      <a:solidFill>
                        <a:srgbClr val="321C28"/>
                      </a:solidFill>
                      <a:prstDash val="solid"/>
                      <a:round/>
                      <a:headEnd type="none" w="med" len="med"/>
                      <a:tailEnd type="none" w="med" len="med"/>
                    </a:lnR>
                    <a:lnT w="12700" cap="flat" cmpd="sng" algn="ctr">
                      <a:solidFill>
                        <a:srgbClr val="C2B9BE"/>
                      </a:solidFill>
                      <a:prstDash val="solid"/>
                      <a:round/>
                      <a:headEnd type="none" w="med" len="med"/>
                      <a:tailEnd type="none" w="med" len="med"/>
                    </a:lnT>
                    <a:lnB w="12700" cap="flat" cmpd="sng" algn="ctr">
                      <a:solidFill>
                        <a:srgbClr val="321C28"/>
                      </a:solidFill>
                      <a:prstDash val="solid"/>
                      <a:round/>
                      <a:headEnd type="none" w="med" len="med"/>
                      <a:tailEnd type="none" w="med" len="med"/>
                    </a:lnB>
                    <a:solidFill>
                      <a:srgbClr val="3A1E2E"/>
                    </a:solidFill>
                  </a:tcPr>
                </a:tc>
              </a:tr>
              <a:tr h="410210">
                <a:tc>
                  <a:txBody>
                    <a:bodyPr/>
                    <a:lstStyle/>
                    <a:p>
                      <a:pPr indent="0" marL="0">
                        <a:lnSpc>
                          <a:spcPts val="2100"/>
                        </a:lnSpc>
                        <a:buNone/>
                      </a:pPr>
                      <a:r>
                        <a:rPr lang="en-US" sz="1500" dirty="0">
                          <a:solidFill>
                            <a:srgbClr val="3A1E2E"/>
                          </a:solidFill>
                          <a:latin typeface="DM Sans" pitchFamily="34" charset="0"/>
                          <a:ea typeface="DM Sans" pitchFamily="34" charset="-122"/>
                          <a:cs typeface="DM Sans" pitchFamily="34" charset="-120"/>
                        </a:rPr>
                        <a:t>R1 · Randevu akışı çalışmaz</a:t>
                      </a:r>
                      <a:endParaRPr lang="en-US" sz="1500" dirty="0">
                        <a:latin typeface="DM Sans" charset="0"/>
                        <a:ea typeface="DM Sans" charset="0"/>
                        <a:cs typeface="DM Sans" charset="0"/>
                      </a:endParaRPr>
                    </a:p>
                  </a:txBody>
                  <a:tcPr marL="66675" marR="66675" marT="66675" marB="66675" anchor="t">
                    <a:lnL w="12700" cap="flat" cmpd="sng" algn="ctr">
                      <a:solidFill>
                        <a:srgbClr val="C2B9BE"/>
                      </a:solidFill>
                      <a:prstDash val="solid"/>
                      <a:round/>
                      <a:headEnd type="none" w="med" len="med"/>
                      <a:tailEnd type="none" w="med" len="med"/>
                    </a:lnL>
                    <a:lnR w="12700" cap="flat" cmpd="sng" algn="ctr">
                      <a:solidFill>
                        <a:srgbClr val="CBCAC9"/>
                      </a:solidFill>
                      <a:prstDash val="solid"/>
                      <a:round/>
                      <a:headEnd type="none" w="med" len="med"/>
                      <a:tailEnd type="none" w="med" len="med"/>
                    </a:lnR>
                    <a:lnT w="12700" cap="flat" cmpd="sng" algn="ctr">
                      <a:solidFill>
                        <a:srgbClr val="321C28"/>
                      </a:solidFill>
                      <a:prstDash val="solid"/>
                      <a:round/>
                      <a:headEnd type="none" w="med" len="med"/>
                      <a:tailEnd type="none" w="med" len="med"/>
                    </a:lnT>
                    <a:lnB w="12700" cap="flat" cmpd="sng" algn="ctr">
                      <a:solidFill>
                        <a:srgbClr val="CBCAC9"/>
                      </a:solidFill>
                      <a:prstDash val="solid"/>
                      <a:round/>
                      <a:headEnd type="none" w="med" len="med"/>
                      <a:tailEnd type="none" w="med" len="med"/>
                    </a:lnB>
                    <a:solidFill>
                      <a:srgbClr val="FFFDFC"/>
                    </a:solidFill>
                  </a:tcPr>
                </a:tc>
                <a:tc>
                  <a:txBody>
                    <a:bodyPr/>
                    <a:lstStyle/>
                    <a:p>
                      <a:pPr indent="0" marL="0">
                        <a:lnSpc>
                          <a:spcPts val="2100"/>
                        </a:lnSpc>
                        <a:buNone/>
                      </a:pPr>
                      <a:r>
                        <a:rPr lang="en-US" sz="1500" dirty="0">
                          <a:solidFill>
                            <a:srgbClr val="3A1E2E"/>
                          </a:solidFill>
                          <a:latin typeface="DM Sans" pitchFamily="34" charset="0"/>
                          <a:ea typeface="DM Sans" pitchFamily="34" charset="-122"/>
                          <a:cs typeface="DM Sans" pitchFamily="34" charset="-120"/>
                        </a:rPr>
                        <a:t>20 · yüksek</a:t>
                      </a:r>
                      <a:endParaRPr lang="en-US" sz="1500" dirty="0">
                        <a:latin typeface="DM Sans" charset="0"/>
                        <a:ea typeface="DM Sans" charset="0"/>
                        <a:cs typeface="DM Sans" charset="0"/>
                      </a:endParaRPr>
                    </a:p>
                  </a:txBody>
                  <a:tcPr marL="66675" marR="66675" marT="66675" marB="66675" anchor="t">
                    <a:lnL w="12700" cap="flat" cmpd="sng" algn="ctr">
                      <a:solidFill>
                        <a:srgbClr val="CBCAC9"/>
                      </a:solidFill>
                      <a:prstDash val="solid"/>
                      <a:round/>
                      <a:headEnd type="none" w="med" len="med"/>
                      <a:tailEnd type="none" w="med" len="med"/>
                    </a:lnL>
                    <a:lnR w="12700" cap="flat" cmpd="sng" algn="ctr">
                      <a:solidFill>
                        <a:srgbClr val="CBCAC9"/>
                      </a:solidFill>
                      <a:prstDash val="solid"/>
                      <a:round/>
                      <a:headEnd type="none" w="med" len="med"/>
                      <a:tailEnd type="none" w="med" len="med"/>
                    </a:lnR>
                    <a:lnT w="12700" cap="flat" cmpd="sng" algn="ctr">
                      <a:solidFill>
                        <a:srgbClr val="321C28"/>
                      </a:solidFill>
                      <a:prstDash val="solid"/>
                      <a:round/>
                      <a:headEnd type="none" w="med" len="med"/>
                      <a:tailEnd type="none" w="med" len="med"/>
                    </a:lnT>
                    <a:lnB w="12700" cap="flat" cmpd="sng" algn="ctr">
                      <a:solidFill>
                        <a:srgbClr val="CBCAC9"/>
                      </a:solidFill>
                      <a:prstDash val="solid"/>
                      <a:round/>
                      <a:headEnd type="none" w="med" len="med"/>
                      <a:tailEnd type="none" w="med" len="med"/>
                    </a:lnB>
                    <a:solidFill>
                      <a:srgbClr val="FFFDFC"/>
                    </a:solidFill>
                  </a:tcPr>
                </a:tc>
                <a:tc>
                  <a:txBody>
                    <a:bodyPr/>
                    <a:lstStyle/>
                    <a:p>
                      <a:pPr indent="0" marL="0">
                        <a:lnSpc>
                          <a:spcPts val="2100"/>
                        </a:lnSpc>
                        <a:buNone/>
                      </a:pPr>
                      <a:r>
                        <a:rPr lang="en-US" sz="1500" dirty="0">
                          <a:solidFill>
                            <a:srgbClr val="3A1E2E"/>
                          </a:solidFill>
                          <a:latin typeface="DM Sans" pitchFamily="34" charset="0"/>
                          <a:ea typeface="DM Sans" pitchFamily="34" charset="-122"/>
                          <a:cs typeface="DM Sans" pitchFamily="34" charset="-120"/>
                        </a:rPr>
                        <a:t>Azaltma: WhatsApp kısa bağlantısı yedek, her sürümde test</a:t>
                      </a:r>
                      <a:endParaRPr lang="en-US" sz="1500" dirty="0">
                        <a:latin typeface="DM Sans" charset="0"/>
                        <a:ea typeface="DM Sans" charset="0"/>
                        <a:cs typeface="DM Sans" charset="0"/>
                      </a:endParaRPr>
                    </a:p>
                  </a:txBody>
                  <a:tcPr marL="66675" marR="66675" marT="66675" marB="66675" anchor="t">
                    <a:lnL w="12700" cap="flat" cmpd="sng" algn="ctr">
                      <a:solidFill>
                        <a:srgbClr val="CBCAC9"/>
                      </a:solidFill>
                      <a:prstDash val="solid"/>
                      <a:round/>
                      <a:headEnd type="none" w="med" len="med"/>
                      <a:tailEnd type="none" w="med" len="med"/>
                    </a:lnL>
                    <a:lnR w="12700" cap="flat" cmpd="sng" algn="ctr">
                      <a:solidFill>
                        <a:srgbClr val="CBCAC9"/>
                      </a:solidFill>
                      <a:prstDash val="solid"/>
                      <a:round/>
                      <a:headEnd type="none" w="med" len="med"/>
                      <a:tailEnd type="none" w="med" len="med"/>
                    </a:lnR>
                    <a:lnT w="12700" cap="flat" cmpd="sng" algn="ctr">
                      <a:solidFill>
                        <a:srgbClr val="321C28"/>
                      </a:solidFill>
                      <a:prstDash val="solid"/>
                      <a:round/>
                      <a:headEnd type="none" w="med" len="med"/>
                      <a:tailEnd type="none" w="med" len="med"/>
                    </a:lnT>
                    <a:lnB w="12700" cap="flat" cmpd="sng" algn="ctr">
                      <a:solidFill>
                        <a:srgbClr val="CBCAC9"/>
                      </a:solidFill>
                      <a:prstDash val="solid"/>
                      <a:round/>
                      <a:headEnd type="none" w="med" len="med"/>
                      <a:tailEnd type="none" w="med" len="med"/>
                    </a:lnB>
                    <a:solidFill>
                      <a:srgbClr val="FFFDFC"/>
                    </a:solidFill>
                  </a:tcPr>
                </a:tc>
              </a:tr>
              <a:tr h="410210">
                <a:tc>
                  <a:txBody>
                    <a:bodyPr/>
                    <a:lstStyle/>
                    <a:p>
                      <a:pPr indent="0" marL="0">
                        <a:lnSpc>
                          <a:spcPts val="2100"/>
                        </a:lnSpc>
                        <a:buNone/>
                      </a:pPr>
                      <a:r>
                        <a:rPr lang="en-US" sz="1500" dirty="0">
                          <a:solidFill>
                            <a:srgbClr val="3A1E2E"/>
                          </a:solidFill>
                          <a:latin typeface="DM Sans" pitchFamily="34" charset="0"/>
                          <a:ea typeface="DM Sans" pitchFamily="34" charset="-122"/>
                          <a:cs typeface="DM Sans" pitchFamily="34" charset="-120"/>
                        </a:rPr>
                        <a:t>R2 · İçerik zamanında gelmez</a:t>
                      </a:r>
                      <a:endParaRPr lang="en-US" sz="1500" dirty="0">
                        <a:latin typeface="DM Sans" charset="0"/>
                        <a:ea typeface="DM Sans" charset="0"/>
                        <a:cs typeface="DM Sans" charset="0"/>
                      </a:endParaRPr>
                    </a:p>
                  </a:txBody>
                  <a:tcPr marL="66675" marR="66675" marT="66675" marB="66675" anchor="t">
                    <a:lnL w="12700" cap="flat" cmpd="sng" algn="ctr">
                      <a:solidFill>
                        <a:srgbClr val="C2B9BE"/>
                      </a:solidFill>
                      <a:prstDash val="solid"/>
                      <a:round/>
                      <a:headEnd type="none" w="med" len="med"/>
                      <a:tailEnd type="none" w="med" len="med"/>
                    </a:lnL>
                    <a:lnR w="12700" cap="flat" cmpd="sng" algn="ctr">
                      <a:solidFill>
                        <a:srgbClr val="C8C5C3"/>
                      </a:solidFill>
                      <a:prstDash val="solid"/>
                      <a:round/>
                      <a:headEnd type="none" w="med" len="med"/>
                      <a:tailEnd type="none" w="med" len="med"/>
                    </a:lnR>
                    <a:lnT w="12700" cap="flat" cmpd="sng" algn="ctr">
                      <a:solidFill>
                        <a:srgbClr val="CBCAC9"/>
                      </a:solidFill>
                      <a:prstDash val="solid"/>
                      <a:round/>
                      <a:headEnd type="none" w="med" len="med"/>
                      <a:tailEnd type="none" w="med" len="med"/>
                    </a:lnT>
                    <a:lnB w="12700" cap="flat" cmpd="sng" algn="ctr">
                      <a:solidFill>
                        <a:srgbClr val="C8C5C3"/>
                      </a:solidFill>
                      <a:prstDash val="solid"/>
                      <a:round/>
                      <a:headEnd type="none" w="med" len="med"/>
                      <a:tailEnd type="none" w="med" len="med"/>
                    </a:lnB>
                    <a:solidFill>
                      <a:srgbClr val="FBF7F5"/>
                    </a:solidFill>
                  </a:tcPr>
                </a:tc>
                <a:tc>
                  <a:txBody>
                    <a:bodyPr/>
                    <a:lstStyle/>
                    <a:p>
                      <a:pPr indent="0" marL="0">
                        <a:lnSpc>
                          <a:spcPts val="2100"/>
                        </a:lnSpc>
                        <a:buNone/>
                      </a:pPr>
                      <a:r>
                        <a:rPr lang="en-US" sz="1500" dirty="0">
                          <a:solidFill>
                            <a:srgbClr val="3A1E2E"/>
                          </a:solidFill>
                          <a:latin typeface="DM Sans" pitchFamily="34" charset="0"/>
                          <a:ea typeface="DM Sans" pitchFamily="34" charset="-122"/>
                          <a:cs typeface="DM Sans" pitchFamily="34" charset="-120"/>
                        </a:rPr>
                        <a:t>9 · orta</a:t>
                      </a:r>
                      <a:endParaRPr lang="en-US" sz="1500" dirty="0">
                        <a:latin typeface="DM Sans" charset="0"/>
                        <a:ea typeface="DM Sans" charset="0"/>
                        <a:cs typeface="DM Sans" charset="0"/>
                      </a:endParaRPr>
                    </a:p>
                  </a:txBody>
                  <a:tcPr marL="66675" marR="66675" marT="66675" marB="66675" anchor="t">
                    <a:lnL w="12700" cap="flat" cmpd="sng" algn="ctr">
                      <a:solidFill>
                        <a:srgbClr val="C8C5C3"/>
                      </a:solidFill>
                      <a:prstDash val="solid"/>
                      <a:round/>
                      <a:headEnd type="none" w="med" len="med"/>
                      <a:tailEnd type="none" w="med" len="med"/>
                    </a:lnL>
                    <a:lnR w="12700" cap="flat" cmpd="sng" algn="ctr">
                      <a:solidFill>
                        <a:srgbClr val="C8C5C3"/>
                      </a:solidFill>
                      <a:prstDash val="solid"/>
                      <a:round/>
                      <a:headEnd type="none" w="med" len="med"/>
                      <a:tailEnd type="none" w="med" len="med"/>
                    </a:lnR>
                    <a:lnT w="12700" cap="flat" cmpd="sng" algn="ctr">
                      <a:solidFill>
                        <a:srgbClr val="CBCAC9"/>
                      </a:solidFill>
                      <a:prstDash val="solid"/>
                      <a:round/>
                      <a:headEnd type="none" w="med" len="med"/>
                      <a:tailEnd type="none" w="med" len="med"/>
                    </a:lnT>
                    <a:lnB w="12700" cap="flat" cmpd="sng" algn="ctr">
                      <a:solidFill>
                        <a:srgbClr val="C8C5C3"/>
                      </a:solidFill>
                      <a:prstDash val="solid"/>
                      <a:round/>
                      <a:headEnd type="none" w="med" len="med"/>
                      <a:tailEnd type="none" w="med" len="med"/>
                    </a:lnB>
                    <a:solidFill>
                      <a:srgbClr val="FBF7F5"/>
                    </a:solidFill>
                  </a:tcPr>
                </a:tc>
                <a:tc>
                  <a:txBody>
                    <a:bodyPr/>
                    <a:lstStyle/>
                    <a:p>
                      <a:pPr indent="0" marL="0">
                        <a:lnSpc>
                          <a:spcPts val="2100"/>
                        </a:lnSpc>
                        <a:buNone/>
                      </a:pPr>
                      <a:r>
                        <a:rPr lang="en-US" sz="1500" dirty="0">
                          <a:solidFill>
                            <a:srgbClr val="3A1E2E"/>
                          </a:solidFill>
                          <a:latin typeface="DM Sans" pitchFamily="34" charset="0"/>
                          <a:ea typeface="DM Sans" pitchFamily="34" charset="-122"/>
                          <a:cs typeface="DM Sans" pitchFamily="34" charset="-120"/>
                        </a:rPr>
                        <a:t>Azaltma: telifsiz geçici görsellerle ilerleme</a:t>
                      </a:r>
                      <a:endParaRPr lang="en-US" sz="1500" dirty="0">
                        <a:latin typeface="DM Sans" charset="0"/>
                        <a:ea typeface="DM Sans" charset="0"/>
                        <a:cs typeface="DM Sans" charset="0"/>
                      </a:endParaRPr>
                    </a:p>
                  </a:txBody>
                  <a:tcPr marL="66675" marR="66675" marT="66675" marB="66675" anchor="t">
                    <a:lnL w="12700" cap="flat" cmpd="sng" algn="ctr">
                      <a:solidFill>
                        <a:srgbClr val="C8C5C3"/>
                      </a:solidFill>
                      <a:prstDash val="solid"/>
                      <a:round/>
                      <a:headEnd type="none" w="med" len="med"/>
                      <a:tailEnd type="none" w="med" len="med"/>
                    </a:lnL>
                    <a:lnR w="12700" cap="flat" cmpd="sng" algn="ctr">
                      <a:solidFill>
                        <a:srgbClr val="C8C5C3"/>
                      </a:solidFill>
                      <a:prstDash val="solid"/>
                      <a:round/>
                      <a:headEnd type="none" w="med" len="med"/>
                      <a:tailEnd type="none" w="med" len="med"/>
                    </a:lnR>
                    <a:lnT w="12700" cap="flat" cmpd="sng" algn="ctr">
                      <a:solidFill>
                        <a:srgbClr val="CBCAC9"/>
                      </a:solidFill>
                      <a:prstDash val="solid"/>
                      <a:round/>
                      <a:headEnd type="none" w="med" len="med"/>
                      <a:tailEnd type="none" w="med" len="med"/>
                    </a:lnT>
                    <a:lnB w="12700" cap="flat" cmpd="sng" algn="ctr">
                      <a:solidFill>
                        <a:srgbClr val="C8C5C3"/>
                      </a:solidFill>
                      <a:prstDash val="solid"/>
                      <a:round/>
                      <a:headEnd type="none" w="med" len="med"/>
                      <a:tailEnd type="none" w="med" len="med"/>
                    </a:lnB>
                    <a:solidFill>
                      <a:srgbClr val="FBF7F5"/>
                    </a:solidFill>
                  </a:tcPr>
                </a:tc>
              </a:tr>
              <a:tr h="410210">
                <a:tc>
                  <a:txBody>
                    <a:bodyPr/>
                    <a:lstStyle/>
                    <a:p>
                      <a:pPr indent="0" marL="0">
                        <a:lnSpc>
                          <a:spcPts val="2100"/>
                        </a:lnSpc>
                        <a:buNone/>
                      </a:pPr>
                      <a:r>
                        <a:rPr lang="en-US" sz="1500" dirty="0">
                          <a:solidFill>
                            <a:srgbClr val="3A1E2E"/>
                          </a:solidFill>
                          <a:latin typeface="DM Sans" pitchFamily="34" charset="0"/>
                          <a:ea typeface="DM Sans" pitchFamily="34" charset="-122"/>
                          <a:cs typeface="DM Sans" pitchFamily="34" charset="-120"/>
                        </a:rPr>
                        <a:t>R3 · Düşük katılım</a:t>
                      </a:r>
                      <a:endParaRPr lang="en-US" sz="1500" dirty="0">
                        <a:latin typeface="DM Sans" charset="0"/>
                        <a:ea typeface="DM Sans" charset="0"/>
                        <a:cs typeface="DM Sans" charset="0"/>
                      </a:endParaRPr>
                    </a:p>
                  </a:txBody>
                  <a:tcPr marL="66675" marR="66675" marT="66675" marB="66675" anchor="t">
                    <a:lnL w="12700" cap="flat" cmpd="sng" algn="ctr">
                      <a:solidFill>
                        <a:srgbClr val="C2B9BE"/>
                      </a:solidFill>
                      <a:prstDash val="solid"/>
                      <a:round/>
                      <a:headEnd type="none" w="med" len="med"/>
                      <a:tailEnd type="none" w="med" len="med"/>
                    </a:lnL>
                    <a:lnR w="12700" cap="flat" cmpd="sng" algn="ctr">
                      <a:solidFill>
                        <a:srgbClr val="CBCAC9"/>
                      </a:solidFill>
                      <a:prstDash val="solid"/>
                      <a:round/>
                      <a:headEnd type="none" w="med" len="med"/>
                      <a:tailEnd type="none" w="med" len="med"/>
                    </a:lnR>
                    <a:lnT w="12700" cap="flat" cmpd="sng" algn="ctr">
                      <a:solidFill>
                        <a:srgbClr val="C8C5C3"/>
                      </a:solidFill>
                      <a:prstDash val="solid"/>
                      <a:round/>
                      <a:headEnd type="none" w="med" len="med"/>
                      <a:tailEnd type="none" w="med" len="med"/>
                    </a:lnT>
                    <a:lnB w="12700" cap="flat" cmpd="sng" algn="ctr">
                      <a:solidFill>
                        <a:srgbClr val="CBCAC9"/>
                      </a:solidFill>
                      <a:prstDash val="solid"/>
                      <a:round/>
                      <a:headEnd type="none" w="med" len="med"/>
                      <a:tailEnd type="none" w="med" len="med"/>
                    </a:lnB>
                    <a:solidFill>
                      <a:srgbClr val="FFFDFC"/>
                    </a:solidFill>
                  </a:tcPr>
                </a:tc>
                <a:tc>
                  <a:txBody>
                    <a:bodyPr/>
                    <a:lstStyle/>
                    <a:p>
                      <a:pPr indent="0" marL="0">
                        <a:lnSpc>
                          <a:spcPts val="2100"/>
                        </a:lnSpc>
                        <a:buNone/>
                      </a:pPr>
                      <a:r>
                        <a:rPr lang="en-US" sz="1500" dirty="0">
                          <a:solidFill>
                            <a:srgbClr val="3A1E2E"/>
                          </a:solidFill>
                          <a:latin typeface="DM Sans" pitchFamily="34" charset="0"/>
                          <a:ea typeface="DM Sans" pitchFamily="34" charset="-122"/>
                          <a:cs typeface="DM Sans" pitchFamily="34" charset="-120"/>
                        </a:rPr>
                        <a:t>9 · orta</a:t>
                      </a:r>
                      <a:endParaRPr lang="en-US" sz="1500" dirty="0">
                        <a:latin typeface="DM Sans" charset="0"/>
                        <a:ea typeface="DM Sans" charset="0"/>
                        <a:cs typeface="DM Sans" charset="0"/>
                      </a:endParaRPr>
                    </a:p>
                  </a:txBody>
                  <a:tcPr marL="66675" marR="66675" marT="66675" marB="66675" anchor="t">
                    <a:lnL w="12700" cap="flat" cmpd="sng" algn="ctr">
                      <a:solidFill>
                        <a:srgbClr val="CBCAC9"/>
                      </a:solidFill>
                      <a:prstDash val="solid"/>
                      <a:round/>
                      <a:headEnd type="none" w="med" len="med"/>
                      <a:tailEnd type="none" w="med" len="med"/>
                    </a:lnL>
                    <a:lnR w="12700" cap="flat" cmpd="sng" algn="ctr">
                      <a:solidFill>
                        <a:srgbClr val="CBCAC9"/>
                      </a:solidFill>
                      <a:prstDash val="solid"/>
                      <a:round/>
                      <a:headEnd type="none" w="med" len="med"/>
                      <a:tailEnd type="none" w="med" len="med"/>
                    </a:lnR>
                    <a:lnT w="12700" cap="flat" cmpd="sng" algn="ctr">
                      <a:solidFill>
                        <a:srgbClr val="C8C5C3"/>
                      </a:solidFill>
                      <a:prstDash val="solid"/>
                      <a:round/>
                      <a:headEnd type="none" w="med" len="med"/>
                      <a:tailEnd type="none" w="med" len="med"/>
                    </a:lnT>
                    <a:lnB w="12700" cap="flat" cmpd="sng" algn="ctr">
                      <a:solidFill>
                        <a:srgbClr val="CBCAC9"/>
                      </a:solidFill>
                      <a:prstDash val="solid"/>
                      <a:round/>
                      <a:headEnd type="none" w="med" len="med"/>
                      <a:tailEnd type="none" w="med" len="med"/>
                    </a:lnB>
                    <a:solidFill>
                      <a:srgbClr val="FFFDFC"/>
                    </a:solidFill>
                  </a:tcPr>
                </a:tc>
                <a:tc>
                  <a:txBody>
                    <a:bodyPr/>
                    <a:lstStyle/>
                    <a:p>
                      <a:pPr indent="0" marL="0">
                        <a:lnSpc>
                          <a:spcPts val="2100"/>
                        </a:lnSpc>
                        <a:buNone/>
                      </a:pPr>
                      <a:r>
                        <a:rPr lang="en-US" sz="1500" dirty="0">
                          <a:solidFill>
                            <a:srgbClr val="3A1E2E"/>
                          </a:solidFill>
                          <a:latin typeface="DM Sans" pitchFamily="34" charset="0"/>
                          <a:ea typeface="DM Sans" pitchFamily="34" charset="-122"/>
                          <a:cs typeface="DM Sans" pitchFamily="34" charset="-120"/>
                        </a:rPr>
                        <a:t>Azaltma: her kartın tek sahibi, haftalık kontrol</a:t>
                      </a:r>
                      <a:endParaRPr lang="en-US" sz="1500" dirty="0">
                        <a:latin typeface="DM Sans" charset="0"/>
                        <a:ea typeface="DM Sans" charset="0"/>
                        <a:cs typeface="DM Sans" charset="0"/>
                      </a:endParaRPr>
                    </a:p>
                  </a:txBody>
                  <a:tcPr marL="66675" marR="66675" marT="66675" marB="66675" anchor="t">
                    <a:lnL w="12700" cap="flat" cmpd="sng" algn="ctr">
                      <a:solidFill>
                        <a:srgbClr val="CBCAC9"/>
                      </a:solidFill>
                      <a:prstDash val="solid"/>
                      <a:round/>
                      <a:headEnd type="none" w="med" len="med"/>
                      <a:tailEnd type="none" w="med" len="med"/>
                    </a:lnL>
                    <a:lnR w="12700" cap="flat" cmpd="sng" algn="ctr">
                      <a:solidFill>
                        <a:srgbClr val="CBCAC9"/>
                      </a:solidFill>
                      <a:prstDash val="solid"/>
                      <a:round/>
                      <a:headEnd type="none" w="med" len="med"/>
                      <a:tailEnd type="none" w="med" len="med"/>
                    </a:lnR>
                    <a:lnT w="12700" cap="flat" cmpd="sng" algn="ctr">
                      <a:solidFill>
                        <a:srgbClr val="C8C5C3"/>
                      </a:solidFill>
                      <a:prstDash val="solid"/>
                      <a:round/>
                      <a:headEnd type="none" w="med" len="med"/>
                      <a:tailEnd type="none" w="med" len="med"/>
                    </a:lnT>
                    <a:lnB w="12700" cap="flat" cmpd="sng" algn="ctr">
                      <a:solidFill>
                        <a:srgbClr val="CBCAC9"/>
                      </a:solidFill>
                      <a:prstDash val="solid"/>
                      <a:round/>
                      <a:headEnd type="none" w="med" len="med"/>
                      <a:tailEnd type="none" w="med" len="med"/>
                    </a:lnB>
                    <a:solidFill>
                      <a:srgbClr val="FFFDFC"/>
                    </a:solidFill>
                  </a:tcPr>
                </a:tc>
              </a:tr>
            </a:tbl>
          </a:graphicData>
        </a:graphic>
      </p:graphicFrame>
      <p:sp>
        <p:nvSpPr>
          <p:cNvPr id="4" name="Text 1"/>
          <p:cNvSpPr/>
          <p:nvPr/>
        </p:nvSpPr>
        <p:spPr>
          <a:xfrm>
            <a:off x="812800" y="3576321"/>
            <a:ext cx="113792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651"/>
                </a:solidFill>
                <a:latin typeface="DM Sans" pitchFamily="34" charset="0"/>
                <a:ea typeface="DM Sans" pitchFamily="34" charset="-122"/>
                <a:cs typeface="DM Sans" pitchFamily="34" charset="-120"/>
              </a:rPr>
              <a:t>Puan = olasılık (1–5) × etki (1–5). Raporda beş risk var; kapsam kayması (R4) ve mobil görünüm (R5) de tetikleyicileriyle izleniyor.</a:t>
            </a:r>
            <a:endParaRPr lang="en-US" sz="1400" dirty="0"/>
          </a:p>
        </p:txBody>
      </p:sp>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6A74"/>
                </a:solidFill>
                <a:latin typeface="DM Sans" pitchFamily="34" charset="0"/>
                <a:ea typeface="DM Sans" pitchFamily="34" charset="-122"/>
                <a:cs typeface="DM Sans" pitchFamily="34" charset="-120"/>
              </a:rPr>
              <a:t>Rapor §9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7A2E55"/>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2CFE0"/>
                </a:solidFill>
                <a:latin typeface="DM Sans" pitchFamily="34" charset="0"/>
                <a:ea typeface="DM Sans" pitchFamily="34" charset="-122"/>
                <a:cs typeface="DM Sans" pitchFamily="34" charset="-120"/>
              </a:rPr>
              <a:t>FIZIBILITE KARARI</a:t>
            </a:r>
            <a:endParaRPr lang="en-US" sz="1600" dirty="0"/>
          </a:p>
        </p:txBody>
      </p:sp>
      <p:sp>
        <p:nvSpPr>
          <p:cNvPr id="3" name="Text 1"/>
          <p:cNvSpPr/>
          <p:nvPr>
            <p:ph type="title"/>
          </p:nvPr>
        </p:nvSpPr>
        <p:spPr>
          <a:xfrm>
            <a:off x="812800" y="1402082"/>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FBF1F5"/>
                </a:solidFill>
                <a:latin typeface="Cormorant Garamond" pitchFamily="18" charset="0"/>
                <a:ea typeface="Cormorant Garamond" pitchFamily="18" charset="-122"/>
                <a:cs typeface="Cormorant Garamond" pitchFamily="18" charset="-120"/>
              </a:rPr>
              <a:t>Devam et</a:t>
            </a:r>
            <a:endParaRPr lang="en-US" sz="7000" dirty="0"/>
          </a:p>
        </p:txBody>
      </p:sp>
      <p:sp>
        <p:nvSpPr>
          <p:cNvPr id="4" name="Shape 2"/>
          <p:cNvSpPr/>
          <p:nvPr/>
        </p:nvSpPr>
        <p:spPr>
          <a:xfrm>
            <a:off x="812800" y="2605407"/>
            <a:ext cx="3386614" cy="0"/>
          </a:xfrm>
          <a:prstGeom prst="line">
            <a:avLst/>
          </a:prstGeom>
          <a:noFill/>
          <a:ln w="19050">
            <a:solidFill>
              <a:srgbClr val="F2CFE0"/>
            </a:solidFill>
            <a:prstDash val="solid"/>
          </a:ln>
        </p:spPr>
      </p:sp>
      <p:sp>
        <p:nvSpPr>
          <p:cNvPr id="5" name="Text 3"/>
          <p:cNvSpPr/>
          <p:nvPr/>
        </p:nvSpPr>
        <p:spPr>
          <a:xfrm>
            <a:off x="812800" y="2763521"/>
            <a:ext cx="348821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BF1F5"/>
                </a:solidFill>
                <a:latin typeface="DM Sans" pitchFamily="34" charset="0"/>
                <a:ea typeface="DM Sans" pitchFamily="34" charset="-122"/>
                <a:cs typeface="DM Sans" pitchFamily="34" charset="-120"/>
              </a:rPr>
              <a:t>Maliyet sıfıra yakın</a:t>
            </a:r>
            <a:endParaRPr lang="en-US" sz="1800" dirty="0"/>
          </a:p>
        </p:txBody>
      </p:sp>
      <p:sp>
        <p:nvSpPr>
          <p:cNvPr id="6" name="Text 4"/>
          <p:cNvSpPr/>
          <p:nvPr/>
        </p:nvSpPr>
        <p:spPr>
          <a:xfrm>
            <a:off x="812800" y="3114039"/>
            <a:ext cx="348821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DDE8"/>
                </a:solidFill>
                <a:latin typeface="DM Sans" pitchFamily="34" charset="0"/>
                <a:ea typeface="DM Sans" pitchFamily="34" charset="-122"/>
                <a:cs typeface="DM Sans" pitchFamily="34" charset="-120"/>
              </a:rPr>
              <a:t>Ücretsiz araçlar; fayda somut</a:t>
            </a:r>
            <a:endParaRPr lang="en-US" sz="1400" dirty="0"/>
          </a:p>
        </p:txBody>
      </p:sp>
      <p:sp>
        <p:nvSpPr>
          <p:cNvPr id="7" name="Shape 5"/>
          <p:cNvSpPr/>
          <p:nvPr/>
        </p:nvSpPr>
        <p:spPr>
          <a:xfrm>
            <a:off x="4402614" y="2605407"/>
            <a:ext cx="3386693" cy="0"/>
          </a:xfrm>
          <a:prstGeom prst="line">
            <a:avLst/>
          </a:prstGeom>
          <a:noFill/>
          <a:ln w="19050">
            <a:solidFill>
              <a:srgbClr val="F2CFE0"/>
            </a:solidFill>
            <a:prstDash val="solid"/>
          </a:ln>
        </p:spPr>
      </p:sp>
      <p:sp>
        <p:nvSpPr>
          <p:cNvPr id="8" name="Text 6"/>
          <p:cNvSpPr/>
          <p:nvPr/>
        </p:nvSpPr>
        <p:spPr>
          <a:xfrm>
            <a:off x="4402614" y="2763521"/>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BF1F5"/>
                </a:solidFill>
                <a:latin typeface="DM Sans" pitchFamily="34" charset="0"/>
                <a:ea typeface="DM Sans" pitchFamily="34" charset="-122"/>
                <a:cs typeface="DM Sans" pitchFamily="34" charset="-120"/>
              </a:rPr>
              <a:t>Teknik olarak yapılabilir</a:t>
            </a:r>
            <a:endParaRPr lang="en-US" sz="1800" dirty="0"/>
          </a:p>
        </p:txBody>
      </p:sp>
      <p:sp>
        <p:nvSpPr>
          <p:cNvPr id="9" name="Text 7"/>
          <p:cNvSpPr/>
          <p:nvPr/>
        </p:nvSpPr>
        <p:spPr>
          <a:xfrm>
            <a:off x="4402614" y="3114039"/>
            <a:ext cx="3488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DDE8"/>
                </a:solidFill>
                <a:latin typeface="DM Sans" pitchFamily="34" charset="0"/>
                <a:ea typeface="DM Sans" pitchFamily="34" charset="-122"/>
                <a:cs typeface="DM Sans" pitchFamily="34" charset="-120"/>
              </a:rPr>
              <a:t>Sunucusuz, hazır prototip</a:t>
            </a:r>
            <a:endParaRPr lang="en-US" sz="1400" dirty="0"/>
          </a:p>
        </p:txBody>
      </p:sp>
      <p:sp>
        <p:nvSpPr>
          <p:cNvPr id="10" name="Shape 8"/>
          <p:cNvSpPr/>
          <p:nvPr/>
        </p:nvSpPr>
        <p:spPr>
          <a:xfrm>
            <a:off x="7992507" y="2605407"/>
            <a:ext cx="3386693" cy="0"/>
          </a:xfrm>
          <a:prstGeom prst="line">
            <a:avLst/>
          </a:prstGeom>
          <a:noFill/>
          <a:ln w="19050">
            <a:solidFill>
              <a:srgbClr val="F2CFE0"/>
            </a:solidFill>
            <a:prstDash val="solid"/>
          </a:ln>
        </p:spPr>
      </p:sp>
      <p:sp>
        <p:nvSpPr>
          <p:cNvPr id="11" name="Text 9"/>
          <p:cNvSpPr/>
          <p:nvPr/>
        </p:nvSpPr>
        <p:spPr>
          <a:xfrm>
            <a:off x="7992507" y="2763521"/>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BF1F5"/>
                </a:solidFill>
                <a:latin typeface="DM Sans" pitchFamily="34" charset="0"/>
                <a:ea typeface="DM Sans" pitchFamily="34" charset="-122"/>
                <a:cs typeface="DM Sans" pitchFamily="34" charset="-120"/>
              </a:rPr>
              <a:t>Risk yönetilebilir</a:t>
            </a:r>
            <a:endParaRPr lang="en-US" sz="1800" dirty="0"/>
          </a:p>
        </p:txBody>
      </p:sp>
      <p:sp>
        <p:nvSpPr>
          <p:cNvPr id="12" name="Text 10"/>
          <p:cNvSpPr/>
          <p:nvPr/>
        </p:nvSpPr>
        <p:spPr>
          <a:xfrm>
            <a:off x="7992507" y="3114039"/>
            <a:ext cx="3488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DDE8"/>
                </a:solidFill>
                <a:latin typeface="DM Sans" pitchFamily="34" charset="0"/>
                <a:ea typeface="DM Sans" pitchFamily="34" charset="-122"/>
                <a:cs typeface="DM Sans" pitchFamily="34" charset="-120"/>
              </a:rPr>
              <a:t>R1 için yedek kanal hazır</a:t>
            </a:r>
            <a:endParaRPr lang="en-US" sz="1400" dirty="0"/>
          </a:p>
        </p:txBody>
      </p:sp>
      <p:sp>
        <p:nvSpPr>
          <p:cNvPr id="13" name="Text 1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CFE0"/>
                </a:solidFill>
                <a:latin typeface="DM Sans" pitchFamily="34" charset="0"/>
                <a:ea typeface="DM Sans" pitchFamily="34" charset="-122"/>
                <a:cs typeface="DM Sans" pitchFamily="34" charset="-120"/>
              </a:rPr>
              <a:t>Koşul: ölçümler, randevu denemesi ve kapsam onayı 2. haftada tamamlanacak · Rapor §10</a:t>
            </a:r>
            <a:endParaRPr lang="en-US" sz="1200" dirty="0"/>
          </a:p>
        </p:txBody>
      </p:sp>
    </p:spTree>
  </p:cSld>
  <p:clrMapOvr>
    <a:masterClrMapping/>
  </p:clrMapOvr>
</p:sld>
</file>

<file path=ppt/theme/theme1.xml><?xml version="1.0" encoding="utf-8"?>
<a:theme xmlns:a="http://schemas.openxmlformats.org/drawingml/2006/main" name="Nova Beauty Fizibilite Sunumu">
  <a:themeElements>
    <a:clrScheme name="Nova Beauty Fizibilite Sunumu">
      <a:dk1>
        <a:srgbClr val="3A1E2E"/>
      </a:dk1>
      <a:lt1>
        <a:srgbClr val="FBF7F5"/>
      </a:lt1>
      <a:dk2>
        <a:srgbClr val="6A5460"/>
      </a:dk2>
      <a:lt2>
        <a:srgbClr val="E8E1E1"/>
      </a:lt2>
      <a:accent1>
        <a:srgbClr val="7A2E55"/>
      </a:accent1>
      <a:accent2>
        <a:srgbClr val="E2B6CB"/>
      </a:accent2>
      <a:accent3>
        <a:srgbClr val="5A4651"/>
      </a:accent3>
      <a:accent4>
        <a:srgbClr val="7D6A74"/>
      </a:accent4>
      <a:accent5>
        <a:srgbClr val="F5DDE8"/>
      </a:accent5>
      <a:accent6>
        <a:srgbClr val="F2CFE0"/>
      </a:accent6>
      <a:hlink>
        <a:srgbClr val="0563C1"/>
      </a:hlink>
      <a:folHlink>
        <a:srgbClr val="954F72"/>
      </a:folHlink>
    </a:clrScheme>
    <a:fontScheme name="Nova Beauty Fizibilite Sunumu">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 Beauty Fizibilite Sunumu</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Cormorant Garamond
Copyright 2015 the Cormorant Project Authors (github.com/CatharsisFonts/Cormorant)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2026-10-21T13:43:57Z</dcterms:created>
  <dcterms:modified xsi:type="dcterms:W3CDTF">2026-10-21T13:43:57Z</dcterms:modified>
</cp:coreProperties>
</file>